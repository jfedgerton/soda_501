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097280"/>
            <a:ext cx="8229600" cy="1097280"/>
          </a:xfrm>
          <a:prstGeom prst="rect">
            <a:avLst/>
          </a:prstGeom>
          <a:noFill/>
          <a:ln/>
        </p:spPr>
        <p:txBody>
          <a:bodyPr wrap="square" rtlCol="0" anchor="t"/>
          <a:lstStyle/>
          <a:p>
            <a:pPr algn="l" indent="0" marL="0">
              <a:buNone/>
            </a:pPr>
            <a:r>
              <a:rPr lang="en-US" sz="3600" dirty="0">
                <a:solidFill>
                  <a:srgbClr val="333333"/>
                </a:solidFill>
                <a:latin typeface="Georgia" pitchFamily="34" charset="0"/>
                <a:ea typeface="Georgia" pitchFamily="34" charset="-122"/>
                <a:cs typeface="Georgia" pitchFamily="34" charset="-120"/>
              </a:rPr>
              <a:t>Web Scraping and HTML as Data</a:t>
            </a:r>
            <a:endParaRPr lang="en-US" sz="3600" dirty="0"/>
          </a:p>
        </p:txBody>
      </p:sp>
      <p:sp>
        <p:nvSpPr>
          <p:cNvPr id="3" name="Text 1"/>
          <p:cNvSpPr/>
          <p:nvPr/>
        </p:nvSpPr>
        <p:spPr>
          <a:xfrm>
            <a:off x="457200" y="2377440"/>
            <a:ext cx="8229600" cy="1097280"/>
          </a:xfrm>
          <a:prstGeom prst="rect">
            <a:avLst/>
          </a:prstGeom>
          <a:noFill/>
          <a:ln/>
        </p:spPr>
        <p:txBody>
          <a:bodyPr wrap="square" rtlCol="0" anchor="t"/>
          <a:lstStyle/>
          <a:p>
            <a:pPr algn="l" indent="0" marL="0">
              <a:buNone/>
            </a:pPr>
            <a:r>
              <a:rPr lang="en-US" sz="1600" i="1" dirty="0">
                <a:solidFill>
                  <a:srgbClr val="666666"/>
                </a:solidFill>
                <a:latin typeface="Calibri" pitchFamily="34" charset="0"/>
                <a:ea typeface="Calibri" pitchFamily="34" charset="-122"/>
                <a:cs typeface="Calibri" pitchFamily="34" charset="-120"/>
              </a:rPr>
              <a:t>What political and methodological insights can we extract from the web, and what ethical and legal boundaries must we respect?</a:t>
            </a:r>
            <a:endParaRPr lang="en-US" sz="1600" dirty="0"/>
          </a:p>
        </p:txBody>
      </p:sp>
      <p:sp>
        <p:nvSpPr>
          <p:cNvPr id="4" name="Shape 2"/>
          <p:cNvSpPr/>
          <p:nvPr/>
        </p:nvSpPr>
        <p:spPr>
          <a:xfrm>
            <a:off x="457200" y="3566160"/>
            <a:ext cx="8229600" cy="0"/>
          </a:xfrm>
          <a:prstGeom prst="line">
            <a:avLst/>
          </a:prstGeom>
          <a:noFill/>
          <a:ln w="12700">
            <a:solidFill>
              <a:srgbClr val="CCCCC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The web is an unprecedented archive of human behavior. News articles, social media, discussion forums, and government websites document political discourse, organizational decisions, and social movements in real time. Unlike surveys or interviews, this data is naturally generated—not contaminated by researcher presence or social desirability bias. Freelon (2018) argues that computational research has entered a "post-API age" where direct API access to platforms like Twitter is increasingly restricted, making web scraping an essential skill alongside negotiating legal and ethical boundaries.</a:t>
            </a:r>
            <a:endParaRPr lang="en-US" sz="1300" dirty="0"/>
          </a:p>
        </p:txBody>
      </p:sp>
      <p:sp>
        <p:nvSpPr>
          <p:cNvPr id="5" name="Text 3"/>
          <p:cNvSpPr/>
          <p:nvPr/>
        </p:nvSpPr>
        <p:spPr>
          <a:xfrm>
            <a:off x="457200" y="2926080"/>
            <a:ext cx="8229600" cy="18288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Web scraping enables large-scale studies of media, political communication, and organizational behavior that would be impossible through traditional methods. Munger et al. (2019) demonstrate that even when using APIs, generalizability is limited—the publicly available data is not representative of all user behavior. This raises a fundamental challenge: do we study what the web has made visible, or do we attempt to study what actually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Why This Matters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457200" y="914400"/>
            <a:ext cx="8229600" cy="3657600"/>
          </a:xfrm>
          <a:prstGeom prst="rect">
            <a:avLst/>
          </a:prstGeom>
          <a:noFill/>
          <a:ln/>
        </p:spPr>
        <p:txBody>
          <a:bodyPr wrap="square" rtlCol="0" anchor="t"/>
          <a:lstStyle/>
          <a:p>
            <a:pPr algn="l" indent="0" marL="0">
              <a:buNone/>
            </a:pPr>
            <a:r>
              <a:rPr lang="en-US" sz="1300" dirty="0">
                <a:solidFill>
                  <a:srgbClr val="333333"/>
                </a:solidFill>
                <a:latin typeface="Calibri" pitchFamily="34" charset="0"/>
                <a:ea typeface="Calibri" pitchFamily="34" charset="-122"/>
                <a:cs typeface="Calibri" pitchFamily="34" charset="-120"/>
              </a:rPr>
              <a:t>Legal and ethical complexity cannot be ignored. Terms of Service often prohibit scraping; robots.txt files signal publisher intent; and scraping can impose computational burdens on servers. Luscombe, Dick &amp; Walby (2022) frame algorithmic thinking as a matter of public interest, arguing that researchers must develop ethical frameworks that go beyond legal compliance to consider impact on data subjects and host organizations. The solution is neither "scrape everything because it's public" nor "never scrape because it's legally risky," but rather a principled approach grounded in research design and ethical review.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Key Concepts &amp; Methods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HTML Parsing</a:t>
            </a:r>
            <a:endParaRPr lang="en-US" sz="1300" dirty="0"/>
          </a:p>
        </p:txBody>
      </p:sp>
      <p:sp>
        <p:nvSpPr>
          <p:cNvPr id="5" name="Text 3"/>
          <p:cNvSpPr/>
          <p:nvPr/>
        </p:nvSpPr>
        <p:spPr>
          <a:xfrm>
            <a:off x="2926080" y="100584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Extracting structured content from HTML documents using CSS selectors or DOM traversal.</a:t>
            </a:r>
            <a:endParaRPr lang="en-US" sz="1300" dirty="0"/>
          </a:p>
        </p:txBody>
      </p:sp>
      <p:sp>
        <p:nvSpPr>
          <p:cNvPr id="6" name="Text 4"/>
          <p:cNvSpPr/>
          <p:nvPr/>
        </p:nvSpPr>
        <p:spPr>
          <a:xfrm>
            <a:off x="640080" y="160020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robots.txt</a:t>
            </a:r>
            <a:endParaRPr lang="en-US" sz="1300" dirty="0"/>
          </a:p>
        </p:txBody>
      </p:sp>
      <p:sp>
        <p:nvSpPr>
          <p:cNvPr id="7" name="Text 5"/>
          <p:cNvSpPr/>
          <p:nvPr/>
        </p:nvSpPr>
        <p:spPr>
          <a:xfrm>
            <a:off x="2926080" y="160020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A convention (not legally binding) where websites communicate which paths should not be crawled.</a:t>
            </a:r>
            <a:endParaRPr lang="en-US" sz="1300" dirty="0"/>
          </a:p>
        </p:txBody>
      </p:sp>
      <p:sp>
        <p:nvSpPr>
          <p:cNvPr id="8" name="Text 6"/>
          <p:cNvSpPr/>
          <p:nvPr/>
        </p:nvSpPr>
        <p:spPr>
          <a:xfrm>
            <a:off x="640080" y="219456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Rate Limiting</a:t>
            </a:r>
            <a:endParaRPr lang="en-US" sz="1300" dirty="0"/>
          </a:p>
        </p:txBody>
      </p:sp>
      <p:sp>
        <p:nvSpPr>
          <p:cNvPr id="9" name="Text 7"/>
          <p:cNvSpPr/>
          <p:nvPr/>
        </p:nvSpPr>
        <p:spPr>
          <a:xfrm>
            <a:off x="2926080" y="219456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Respecting server load by spacing requests temporally and identifying as a bot.</a:t>
            </a:r>
            <a:endParaRPr lang="en-US" sz="1300" dirty="0"/>
          </a:p>
        </p:txBody>
      </p:sp>
      <p:sp>
        <p:nvSpPr>
          <p:cNvPr id="10" name="Text 8"/>
          <p:cNvSpPr/>
          <p:nvPr/>
        </p:nvSpPr>
        <p:spPr>
          <a:xfrm>
            <a:off x="640080" y="278892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Terms of Service</a:t>
            </a:r>
            <a:endParaRPr lang="en-US" sz="1300" dirty="0"/>
          </a:p>
        </p:txBody>
      </p:sp>
      <p:sp>
        <p:nvSpPr>
          <p:cNvPr id="11" name="Text 9"/>
          <p:cNvSpPr/>
          <p:nvPr/>
        </p:nvSpPr>
        <p:spPr>
          <a:xfrm>
            <a:off x="2926080" y="278892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Legal agreements that may prohibit scraping; violation can result in legal action.</a:t>
            </a:r>
            <a:endParaRPr lang="en-US" sz="1300" dirty="0"/>
          </a:p>
        </p:txBody>
      </p:sp>
      <p:sp>
        <p:nvSpPr>
          <p:cNvPr id="12" name="Text 10"/>
          <p:cNvSpPr/>
          <p:nvPr/>
        </p:nvSpPr>
        <p:spPr>
          <a:xfrm>
            <a:off x="640080" y="3383280"/>
            <a:ext cx="2103120" cy="320040"/>
          </a:xfrm>
          <a:prstGeom prst="rect">
            <a:avLst/>
          </a:prstGeom>
          <a:noFill/>
          <a:ln/>
        </p:spPr>
        <p:txBody>
          <a:bodyPr wrap="square" rtlCol="0" anchor="ctr"/>
          <a:lstStyle/>
          <a:p>
            <a:pPr algn="l" indent="0" marL="0">
              <a:buNone/>
            </a:pPr>
            <a:r>
              <a:rPr lang="en-US" sz="1300" b="1" dirty="0">
                <a:solidFill>
                  <a:srgbClr val="333333"/>
                </a:solidFill>
                <a:latin typeface="Calibri" pitchFamily="34" charset="0"/>
                <a:ea typeface="Calibri" pitchFamily="34" charset="-122"/>
                <a:cs typeface="Calibri" pitchFamily="34" charset="-120"/>
              </a:rPr>
              <a:t>Robots Exclusion Standard</a:t>
            </a:r>
            <a:endParaRPr lang="en-US" sz="1300" dirty="0"/>
          </a:p>
        </p:txBody>
      </p:sp>
      <p:sp>
        <p:nvSpPr>
          <p:cNvPr id="13" name="Text 11"/>
          <p:cNvSpPr/>
          <p:nvPr/>
        </p:nvSpPr>
        <p:spPr>
          <a:xfrm>
            <a:off x="2926080" y="3383280"/>
            <a:ext cx="5760720" cy="320040"/>
          </a:xfrm>
          <a:prstGeom prst="rect">
            <a:avLst/>
          </a:prstGeom>
          <a:noFill/>
          <a:ln/>
        </p:spPr>
        <p:txBody>
          <a:bodyPr wrap="square" rtlCol="0" anchor="ctr"/>
          <a:lstStyle/>
          <a:p>
            <a:pPr algn="l" indent="0" marL="0">
              <a:buNone/>
            </a:pPr>
            <a:r>
              <a:rPr lang="en-US" sz="1300" dirty="0">
                <a:solidFill>
                  <a:srgbClr val="333333"/>
                </a:solidFill>
                <a:latin typeface="Calibri" pitchFamily="34" charset="0"/>
                <a:ea typeface="Calibri" pitchFamily="34" charset="-122"/>
                <a:cs typeface="Calibri" pitchFamily="34" charset="-120"/>
              </a:rPr>
              <a:t>HTTP headers and robots.txt that signal to automated crawlers which content to access.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Discussion Questions</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Freelon argues that the "post-API age" forces researchers to web scrape. Is scraping more or less problematic than relying on platform-controlled APIs? What are the tradeoffs?</a:t>
            </a:r>
            <a:endParaRPr lang="en-US" sz="1400" dirty="0"/>
          </a:p>
        </p:txBody>
      </p:sp>
      <p:sp>
        <p:nvSpPr>
          <p:cNvPr id="5" name="Text 3"/>
          <p:cNvSpPr/>
          <p:nvPr/>
        </p:nvSpPr>
        <p:spPr>
          <a:xfrm>
            <a:off x="640080" y="201168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Munger et al. show that publicly available data is not representative of all platform behavior. Should this representativeness crisis drive us away from web data, or toward more careful methods?</a:t>
            </a:r>
            <a:endParaRPr lang="en-US" sz="1400" dirty="0"/>
          </a:p>
        </p:txBody>
      </p:sp>
      <p:sp>
        <p:nvSpPr>
          <p:cNvPr id="6" name="Text 4"/>
          <p:cNvSpPr/>
          <p:nvPr/>
        </p:nvSpPr>
        <p:spPr>
          <a:xfrm>
            <a:off x="640080" y="3017520"/>
            <a:ext cx="8046720" cy="0"/>
          </a:xfrm>
          <a:prstGeom prst="rect">
            <a:avLst/>
          </a:prstGeom>
          <a:noFill/>
          <a:ln/>
        </p:spPr>
        <p:txBody>
          <a:bodyPr wrap="square" rtlCol="0" anchor="ctr"/>
          <a:lstStyle/>
          <a:p>
            <a:pPr algn="l" marL="342900" indent="-342900">
              <a:buSzPct val="100000"/>
              <a:buChar char="•"/>
            </a:pPr>
            <a:r>
              <a:rPr lang="en-US" sz="1400" dirty="0">
                <a:solidFill>
                  <a:srgbClr val="333333"/>
                </a:solidFill>
                <a:latin typeface="Calibri" pitchFamily="34" charset="0"/>
                <a:ea typeface="Calibri" pitchFamily="34" charset="-122"/>
                <a:cs typeface="Calibri" pitchFamily="34" charset="-120"/>
              </a:rPr>
              <a:t>Luscombe et al. call for "algorithmic thinking in the public interest." What does this mean in practice when designing a web scraping project? How do you balance research goals with ethical obligations to data subjects and host sites?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365760"/>
          </a:xfrm>
          <a:prstGeom prst="rect">
            <a:avLst/>
          </a:prstGeom>
          <a:noFill/>
          <a:ln/>
        </p:spPr>
        <p:txBody>
          <a:bodyPr wrap="square" rtlCol="0" anchor="ctr"/>
          <a:lstStyle/>
          <a:p>
            <a:pPr indent="0" marL="0">
              <a:buNone/>
            </a:pPr>
            <a:r>
              <a:rPr lang="en-US" sz="2400" b="1" dirty="0">
                <a:solidFill>
                  <a:srgbClr val="333333"/>
                </a:solidFill>
                <a:latin typeface="Georgia" pitchFamily="34" charset="0"/>
                <a:ea typeface="Georgia" pitchFamily="34" charset="-122"/>
                <a:cs typeface="Georgia" pitchFamily="34" charset="-120"/>
              </a:rPr>
              <a:t>Recommended Reading</a:t>
            </a:r>
            <a:endParaRPr lang="en-US" sz="2400" dirty="0"/>
          </a:p>
        </p:txBody>
      </p:sp>
      <p:sp>
        <p:nvSpPr>
          <p:cNvPr id="3" name="Shape 1"/>
          <p:cNvSpPr/>
          <p:nvPr/>
        </p:nvSpPr>
        <p:spPr>
          <a:xfrm>
            <a:off x="457200" y="731520"/>
            <a:ext cx="8229600" cy="0"/>
          </a:xfrm>
          <a:prstGeom prst="line">
            <a:avLst/>
          </a:prstGeom>
          <a:noFill/>
          <a:ln w="12700">
            <a:solidFill>
              <a:srgbClr val="CCCCCC"/>
            </a:solidFill>
            <a:prstDash val="solid"/>
          </a:ln>
        </p:spPr>
      </p:sp>
      <p:sp>
        <p:nvSpPr>
          <p:cNvPr id="4" name="Text 2"/>
          <p:cNvSpPr/>
          <p:nvPr/>
        </p:nvSpPr>
        <p:spPr>
          <a:xfrm>
            <a:off x="640080" y="10058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Freelon, D. (2018). "Computational Research in the Post-API Age." Political Communication, 35(4), 665–668.</a:t>
            </a:r>
            <a:endParaRPr lang="en-US" sz="1100" dirty="0"/>
          </a:p>
        </p:txBody>
      </p:sp>
      <p:sp>
        <p:nvSpPr>
          <p:cNvPr id="5" name="Text 3"/>
          <p:cNvSpPr/>
          <p:nvPr/>
        </p:nvSpPr>
        <p:spPr>
          <a:xfrm>
            <a:off x="640080" y="16916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Munger, K., Bonneau, J., Nagler, J., &amp; Tucker, J. A. (2019). "Accessibility and Generalizability in the Pornographic Recommendations of Algorithmic Systems." Political Science Research and Methods, 9(1), 1–17.</a:t>
            </a:r>
            <a:endParaRPr lang="en-US" sz="1100" dirty="0"/>
          </a:p>
        </p:txBody>
      </p:sp>
      <p:sp>
        <p:nvSpPr>
          <p:cNvPr id="6" name="Text 4"/>
          <p:cNvSpPr/>
          <p:nvPr/>
        </p:nvSpPr>
        <p:spPr>
          <a:xfrm>
            <a:off x="640080" y="23774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Luscombe, A., Dick, S., &amp; Walby, K. (2022). "Algorithmic Thinking in the Public Interest." New Media &amp; Society, 24(2), 376–396.</a:t>
            </a:r>
            <a:endParaRPr lang="en-US" sz="1100" dirty="0"/>
          </a:p>
        </p:txBody>
      </p:sp>
      <p:sp>
        <p:nvSpPr>
          <p:cNvPr id="7" name="Text 5"/>
          <p:cNvSpPr/>
          <p:nvPr/>
        </p:nvSpPr>
        <p:spPr>
          <a:xfrm>
            <a:off x="640080" y="30632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Schlagwein, D. (2018). "Escaping the Singularity: Work in the Age of Intelligent Machines." European Journal of Information Systems, 27(6), 619–628.</a:t>
            </a:r>
            <a:endParaRPr lang="en-US" sz="1100" dirty="0"/>
          </a:p>
        </p:txBody>
      </p:sp>
      <p:sp>
        <p:nvSpPr>
          <p:cNvPr id="8" name="Text 6"/>
          <p:cNvSpPr/>
          <p:nvPr/>
        </p:nvSpPr>
        <p:spPr>
          <a:xfrm>
            <a:off x="640080" y="3749040"/>
            <a:ext cx="8046720" cy="0"/>
          </a:xfrm>
          <a:prstGeom prst="rect">
            <a:avLst/>
          </a:prstGeom>
          <a:noFill/>
          <a:ln/>
        </p:spPr>
        <p:txBody>
          <a:bodyPr wrap="square" rtlCol="0" anchor="ctr"/>
          <a:lstStyle/>
          <a:p>
            <a:pPr algn="l" marL="342900" indent="-342900">
              <a:buSzPct val="100000"/>
              <a:buChar char="•"/>
            </a:pPr>
            <a:r>
              <a:rPr lang="en-US" sz="1100" dirty="0">
                <a:solidFill>
                  <a:srgbClr val="888888"/>
                </a:solidFill>
                <a:latin typeface="Calibri" pitchFamily="34" charset="0"/>
                <a:ea typeface="Calibri" pitchFamily="34" charset="-122"/>
                <a:cs typeface="Calibri" pitchFamily="34" charset="-120"/>
              </a:rPr>
              <a:t>Bruns, A. (2019). "After the APIcalypse: Social Media Platforms and Their Fight Against Critical Academic Research." Information, Communication &amp; Society, 22(11), 1544–1566.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2026-03-17T22:23:09Z</dcterms:created>
  <dcterms:modified xsi:type="dcterms:W3CDTF">2026-03-17T22:23:09Z</dcterms:modified>
</cp:coreProperties>
</file>