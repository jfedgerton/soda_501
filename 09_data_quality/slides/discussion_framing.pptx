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8"/>
  </p:notesMasterIdLst>
  <p:sldIdLst>
    <p:sldId id="256" r:id="rId2"/>
    <p:sldId id="257" r:id="rId3"/>
    <p:sldId id="258" r:id="rId4"/>
    <p:sldId id="259" r:id="rId5"/>
    <p:sldId id="260" r:id="rId6"/>
    <p:sldId id="261" r:id="rId7"/>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0" d="100"/>
          <a:sy n="130" d="100"/>
        </p:scale>
        <p:origin x="1074" y="33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18242557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1097280"/>
            <a:ext cx="8229600" cy="1097280"/>
          </a:xfrm>
          <a:prstGeom prst="rect">
            <a:avLst/>
          </a:prstGeom>
          <a:noFill/>
          <a:ln/>
        </p:spPr>
        <p:txBody>
          <a:bodyPr wrap="square" rtlCol="0" anchor="t"/>
          <a:lstStyle/>
          <a:p>
            <a:pPr marL="0" indent="0" algn="l">
              <a:buNone/>
            </a:pPr>
            <a:r>
              <a:rPr lang="en-US" sz="3600" dirty="0">
                <a:solidFill>
                  <a:srgbClr val="333333"/>
                </a:solidFill>
                <a:latin typeface="Georgia" pitchFamily="34" charset="0"/>
                <a:ea typeface="Georgia" pitchFamily="34" charset="-122"/>
                <a:cs typeface="Georgia" pitchFamily="34" charset="-120"/>
              </a:rPr>
              <a:t>Data Quality and Validation</a:t>
            </a:r>
            <a:endParaRPr lang="en-US" sz="3600" dirty="0"/>
          </a:p>
        </p:txBody>
      </p:sp>
      <p:sp>
        <p:nvSpPr>
          <p:cNvPr id="3" name="Text 1"/>
          <p:cNvSpPr/>
          <p:nvPr/>
        </p:nvSpPr>
        <p:spPr>
          <a:xfrm>
            <a:off x="457200" y="2377440"/>
            <a:ext cx="8229600" cy="1097280"/>
          </a:xfrm>
          <a:prstGeom prst="rect">
            <a:avLst/>
          </a:prstGeom>
          <a:noFill/>
          <a:ln/>
        </p:spPr>
        <p:txBody>
          <a:bodyPr wrap="square" rtlCol="0" anchor="t"/>
          <a:lstStyle/>
          <a:p>
            <a:pPr marL="0" indent="0" algn="l">
              <a:buNone/>
            </a:pPr>
            <a:r>
              <a:rPr lang="en-US" sz="1600" i="1" dirty="0">
                <a:solidFill>
                  <a:srgbClr val="666666"/>
                </a:solidFill>
                <a:latin typeface="Calibri" pitchFamily="34" charset="0"/>
                <a:ea typeface="Calibri" pitchFamily="34" charset="-122"/>
                <a:cs typeface="Calibri" pitchFamily="34" charset="-120"/>
              </a:rPr>
              <a:t>How do we ensure that data errors do not silently bias our findings?</a:t>
            </a:r>
            <a:endParaRPr lang="en-US" sz="1600" dirty="0"/>
          </a:p>
        </p:txBody>
      </p:sp>
      <p:sp>
        <p:nvSpPr>
          <p:cNvPr id="4" name="Shape 2"/>
          <p:cNvSpPr/>
          <p:nvPr/>
        </p:nvSpPr>
        <p:spPr>
          <a:xfrm>
            <a:off x="457200" y="3566160"/>
            <a:ext cx="8229600" cy="0"/>
          </a:xfrm>
          <a:prstGeom prst="line">
            <a:avLst/>
          </a:prstGeom>
          <a:noFill/>
          <a:ln w="12700">
            <a:solidFill>
              <a:srgbClr val="CCCCCC"/>
            </a:solidFill>
            <a:prstDash val="solid"/>
          </a:ln>
        </p:spPr>
        <p:txBody>
          <a:bodyPr/>
          <a:lstStyle/>
          <a:p>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74320"/>
            <a:ext cx="8229600" cy="365760"/>
          </a:xfrm>
          <a:prstGeom prst="rect">
            <a:avLst/>
          </a:prstGeom>
          <a:noFill/>
          <a:ln/>
        </p:spPr>
        <p:txBody>
          <a:bodyPr wrap="square" rtlCol="0" anchor="ctr"/>
          <a:lstStyle/>
          <a:p>
            <a:pPr marL="0" indent="0">
              <a:buNone/>
            </a:pPr>
            <a:r>
              <a:rPr lang="en-US" sz="2400" b="1" dirty="0">
                <a:solidFill>
                  <a:srgbClr val="333333"/>
                </a:solidFill>
                <a:latin typeface="Georgia" pitchFamily="34" charset="0"/>
                <a:ea typeface="Georgia" pitchFamily="34" charset="-122"/>
                <a:cs typeface="Georgia" pitchFamily="34" charset="-120"/>
              </a:rPr>
              <a:t>Why This Matters</a:t>
            </a:r>
            <a:endParaRPr lang="en-US" sz="2400" dirty="0"/>
          </a:p>
        </p:txBody>
      </p:sp>
      <p:sp>
        <p:nvSpPr>
          <p:cNvPr id="3" name="Shape 1"/>
          <p:cNvSpPr/>
          <p:nvPr/>
        </p:nvSpPr>
        <p:spPr>
          <a:xfrm>
            <a:off x="457200" y="731520"/>
            <a:ext cx="8229600" cy="0"/>
          </a:xfrm>
          <a:prstGeom prst="line">
            <a:avLst/>
          </a:prstGeom>
          <a:noFill/>
          <a:ln w="12700">
            <a:solidFill>
              <a:srgbClr val="CCCCCC"/>
            </a:solidFill>
            <a:prstDash val="solid"/>
          </a:ln>
        </p:spPr>
        <p:txBody>
          <a:bodyPr/>
          <a:lstStyle/>
          <a:p>
            <a:endParaRPr lang="en-US"/>
          </a:p>
        </p:txBody>
      </p:sp>
      <p:sp>
        <p:nvSpPr>
          <p:cNvPr id="4" name="Text 2"/>
          <p:cNvSpPr/>
          <p:nvPr/>
        </p:nvSpPr>
        <p:spPr>
          <a:xfrm>
            <a:off x="457200" y="914400"/>
            <a:ext cx="8229600" cy="1828800"/>
          </a:xfrm>
          <a:prstGeom prst="rect">
            <a:avLst/>
          </a:prstGeom>
          <a:noFill/>
          <a:ln/>
        </p:spPr>
        <p:txBody>
          <a:bodyPr wrap="square" rtlCol="0" anchor="t"/>
          <a:lstStyle/>
          <a:p>
            <a:pPr marL="0" indent="0" algn="l">
              <a:buNone/>
            </a:pPr>
            <a:r>
              <a:rPr lang="en-US" sz="1300" dirty="0">
                <a:solidFill>
                  <a:srgbClr val="333333"/>
                </a:solidFill>
                <a:latin typeface="Calibri" pitchFamily="34" charset="0"/>
                <a:ea typeface="Calibri" pitchFamily="34" charset="-122"/>
                <a:cs typeface="Calibri" pitchFamily="34" charset="-120"/>
              </a:rPr>
              <a:t>Garbage in, garbage out: flawed data yields flawed conclusions. Yet data quality problems are easy to miss. Lazer et al. (2014) recount the Google Flu Trends case: Google's model predicted flu prevalence by tracking search queries for flu-related terms. It worked well initially, but then failed spectacularly—predicting twice the actual flu rate in 2013. Why? Google's algorithm was overfit to historical patterns, and as Google changed its search suggestions and interfaces, the patterns shifted. No one caught the error until millions of people may have made health decisions based on the flawed predictions. The lesson: even sophisticated algorithms require validation.</a:t>
            </a:r>
            <a:endParaRPr lang="en-US" sz="1300" dirty="0"/>
          </a:p>
        </p:txBody>
      </p:sp>
      <p:sp>
        <p:nvSpPr>
          <p:cNvPr id="5" name="Text 3"/>
          <p:cNvSpPr/>
          <p:nvPr/>
        </p:nvSpPr>
        <p:spPr>
          <a:xfrm>
            <a:off x="457200" y="2926080"/>
            <a:ext cx="8229600" cy="1828800"/>
          </a:xfrm>
          <a:prstGeom prst="rect">
            <a:avLst/>
          </a:prstGeom>
          <a:noFill/>
          <a:ln/>
        </p:spPr>
        <p:txBody>
          <a:bodyPr wrap="square" rtlCol="0" anchor="t"/>
          <a:lstStyle/>
          <a:p>
            <a:pPr marL="0" indent="0" algn="l">
              <a:buNone/>
            </a:pPr>
            <a:r>
              <a:rPr lang="en-US" sz="1300" dirty="0">
                <a:solidFill>
                  <a:srgbClr val="333333"/>
                </a:solidFill>
                <a:latin typeface="Calibri" pitchFamily="34" charset="0"/>
                <a:ea typeface="Calibri" pitchFamily="34" charset="-122"/>
                <a:cs typeface="Calibri" pitchFamily="34" charset="-120"/>
              </a:rPr>
              <a:t>Data quality problems are systematic. Schrodt (2006) describes decades of experience building the Kansas Event Data System, a large dataset of international events. Measurement errors are not random noise; they reflect coder fatigue, ambiguous source material, and systematic biases in what conflicts are reported. If media report coups in fragile states more than stable ones, event data over-represents fragile state instability. King, Schneer &amp; White (2017) demonstrate that news media amplification shapes what is considered "politically relevant," not just how much coverage different events receive. Understanding data quality requires understanding how data are generated.</a:t>
            </a:r>
            <a:endParaRPr lang="en-US" sz="13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74320"/>
            <a:ext cx="8229600" cy="365760"/>
          </a:xfrm>
          <a:prstGeom prst="rect">
            <a:avLst/>
          </a:prstGeom>
          <a:noFill/>
          <a:ln/>
        </p:spPr>
        <p:txBody>
          <a:bodyPr wrap="square" rtlCol="0" anchor="ctr"/>
          <a:lstStyle/>
          <a:p>
            <a:pPr marL="0" indent="0">
              <a:buNone/>
            </a:pPr>
            <a:r>
              <a:rPr lang="en-US" sz="2400" b="1" dirty="0">
                <a:solidFill>
                  <a:srgbClr val="333333"/>
                </a:solidFill>
                <a:latin typeface="Georgia" pitchFamily="34" charset="0"/>
                <a:ea typeface="Georgia" pitchFamily="34" charset="-122"/>
                <a:cs typeface="Georgia" pitchFamily="34" charset="-120"/>
              </a:rPr>
              <a:t>Why This Matters</a:t>
            </a:r>
            <a:endParaRPr lang="en-US" sz="2400" dirty="0"/>
          </a:p>
        </p:txBody>
      </p:sp>
      <p:sp>
        <p:nvSpPr>
          <p:cNvPr id="3" name="Shape 1"/>
          <p:cNvSpPr/>
          <p:nvPr/>
        </p:nvSpPr>
        <p:spPr>
          <a:xfrm>
            <a:off x="457200" y="731520"/>
            <a:ext cx="8229600" cy="0"/>
          </a:xfrm>
          <a:prstGeom prst="line">
            <a:avLst/>
          </a:prstGeom>
          <a:noFill/>
          <a:ln w="12700">
            <a:solidFill>
              <a:srgbClr val="CCCCCC"/>
            </a:solidFill>
            <a:prstDash val="solid"/>
          </a:ln>
        </p:spPr>
        <p:txBody>
          <a:bodyPr/>
          <a:lstStyle/>
          <a:p>
            <a:endParaRPr lang="en-US"/>
          </a:p>
        </p:txBody>
      </p:sp>
      <p:sp>
        <p:nvSpPr>
          <p:cNvPr id="4" name="Text 2"/>
          <p:cNvSpPr/>
          <p:nvPr/>
        </p:nvSpPr>
        <p:spPr>
          <a:xfrm>
            <a:off x="457200" y="914400"/>
            <a:ext cx="8229600" cy="3657600"/>
          </a:xfrm>
          <a:prstGeom prst="rect">
            <a:avLst/>
          </a:prstGeom>
          <a:noFill/>
          <a:ln/>
        </p:spPr>
        <p:txBody>
          <a:bodyPr wrap="square" rtlCol="0" anchor="t"/>
          <a:lstStyle/>
          <a:p>
            <a:pPr marL="0" indent="0" algn="l">
              <a:buNone/>
            </a:pPr>
            <a:r>
              <a:rPr lang="en-US" sz="1300" dirty="0">
                <a:solidFill>
                  <a:srgbClr val="333333"/>
                </a:solidFill>
                <a:latin typeface="Calibri" pitchFamily="34" charset="0"/>
                <a:ea typeface="Calibri" pitchFamily="34" charset="-122"/>
                <a:cs typeface="Calibri" pitchFamily="34" charset="-120"/>
              </a:rPr>
              <a:t>Solutions exist: audit trails that document how data were constructed, validation samples where gold-standard manual coding checks automated methods, and sensitivity analyses that ask "How much error would change my conclusions?" The frontier is building data quality into research design, not checking it as an afterthought.</a:t>
            </a:r>
            <a:endParaRPr lang="en-US" sz="13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74320"/>
            <a:ext cx="8229600" cy="365760"/>
          </a:xfrm>
          <a:prstGeom prst="rect">
            <a:avLst/>
          </a:prstGeom>
          <a:noFill/>
          <a:ln/>
        </p:spPr>
        <p:txBody>
          <a:bodyPr wrap="square" rtlCol="0" anchor="ctr"/>
          <a:lstStyle/>
          <a:p>
            <a:pPr marL="0" indent="0">
              <a:buNone/>
            </a:pPr>
            <a:r>
              <a:rPr lang="en-US" sz="2400" b="1" dirty="0">
                <a:solidFill>
                  <a:srgbClr val="333333"/>
                </a:solidFill>
                <a:latin typeface="Georgia" pitchFamily="34" charset="0"/>
                <a:ea typeface="Georgia" pitchFamily="34" charset="-122"/>
                <a:cs typeface="Georgia" pitchFamily="34" charset="-120"/>
              </a:rPr>
              <a:t>Key Concepts &amp; Methods</a:t>
            </a:r>
            <a:endParaRPr lang="en-US" sz="2400" dirty="0"/>
          </a:p>
        </p:txBody>
      </p:sp>
      <p:sp>
        <p:nvSpPr>
          <p:cNvPr id="3" name="Shape 1"/>
          <p:cNvSpPr/>
          <p:nvPr/>
        </p:nvSpPr>
        <p:spPr>
          <a:xfrm>
            <a:off x="457200" y="731520"/>
            <a:ext cx="8229600" cy="0"/>
          </a:xfrm>
          <a:prstGeom prst="line">
            <a:avLst/>
          </a:prstGeom>
          <a:noFill/>
          <a:ln w="12700">
            <a:solidFill>
              <a:srgbClr val="CCCCCC"/>
            </a:solidFill>
            <a:prstDash val="solid"/>
          </a:ln>
        </p:spPr>
        <p:txBody>
          <a:bodyPr/>
          <a:lstStyle/>
          <a:p>
            <a:endParaRPr lang="en-US"/>
          </a:p>
        </p:txBody>
      </p:sp>
      <p:sp>
        <p:nvSpPr>
          <p:cNvPr id="4" name="Text 2"/>
          <p:cNvSpPr/>
          <p:nvPr/>
        </p:nvSpPr>
        <p:spPr>
          <a:xfrm>
            <a:off x="640080" y="1005840"/>
            <a:ext cx="2103120" cy="320040"/>
          </a:xfrm>
          <a:prstGeom prst="rect">
            <a:avLst/>
          </a:prstGeom>
          <a:noFill/>
          <a:ln/>
        </p:spPr>
        <p:txBody>
          <a:bodyPr wrap="square" rtlCol="0" anchor="ctr"/>
          <a:lstStyle/>
          <a:p>
            <a:pPr marL="0" indent="0" algn="l">
              <a:buNone/>
            </a:pPr>
            <a:r>
              <a:rPr lang="en-US" sz="1300" b="1" dirty="0">
                <a:solidFill>
                  <a:srgbClr val="333333"/>
                </a:solidFill>
                <a:latin typeface="Calibri" pitchFamily="34" charset="0"/>
                <a:ea typeface="Calibri" pitchFamily="34" charset="-122"/>
                <a:cs typeface="Calibri" pitchFamily="34" charset="-120"/>
              </a:rPr>
              <a:t>Measurement Error</a:t>
            </a:r>
            <a:endParaRPr lang="en-US" sz="1300" dirty="0"/>
          </a:p>
        </p:txBody>
      </p:sp>
      <p:sp>
        <p:nvSpPr>
          <p:cNvPr id="5" name="Text 3"/>
          <p:cNvSpPr/>
          <p:nvPr/>
        </p:nvSpPr>
        <p:spPr>
          <a:xfrm>
            <a:off x="2926080" y="1005840"/>
            <a:ext cx="5760720" cy="320040"/>
          </a:xfrm>
          <a:prstGeom prst="rect">
            <a:avLst/>
          </a:prstGeom>
          <a:noFill/>
          <a:ln/>
        </p:spPr>
        <p:txBody>
          <a:bodyPr wrap="square" rtlCol="0" anchor="ctr"/>
          <a:lstStyle/>
          <a:p>
            <a:pPr marL="0" indent="0" algn="l">
              <a:buNone/>
            </a:pPr>
            <a:r>
              <a:rPr lang="en-US" sz="1300" dirty="0">
                <a:solidFill>
                  <a:srgbClr val="333333"/>
                </a:solidFill>
                <a:latin typeface="Calibri" pitchFamily="34" charset="0"/>
                <a:ea typeface="Calibri" pitchFamily="34" charset="-122"/>
                <a:cs typeface="Calibri" pitchFamily="34" charset="-120"/>
              </a:rPr>
              <a:t>Discrepancy between true value and observed value; can be random (adding noise) or systematic (biased).</a:t>
            </a:r>
            <a:endParaRPr lang="en-US" sz="1300" dirty="0"/>
          </a:p>
        </p:txBody>
      </p:sp>
      <p:sp>
        <p:nvSpPr>
          <p:cNvPr id="6" name="Text 4"/>
          <p:cNvSpPr/>
          <p:nvPr/>
        </p:nvSpPr>
        <p:spPr>
          <a:xfrm>
            <a:off x="640080" y="1600200"/>
            <a:ext cx="2103120" cy="320040"/>
          </a:xfrm>
          <a:prstGeom prst="rect">
            <a:avLst/>
          </a:prstGeom>
          <a:noFill/>
          <a:ln/>
        </p:spPr>
        <p:txBody>
          <a:bodyPr wrap="square" rtlCol="0" anchor="ctr"/>
          <a:lstStyle/>
          <a:p>
            <a:pPr marL="0" indent="0" algn="l">
              <a:buNone/>
            </a:pPr>
            <a:r>
              <a:rPr lang="en-US" sz="1300" b="1" dirty="0">
                <a:solidFill>
                  <a:srgbClr val="333333"/>
                </a:solidFill>
                <a:latin typeface="Calibri" pitchFamily="34" charset="0"/>
                <a:ea typeface="Calibri" pitchFamily="34" charset="-122"/>
                <a:cs typeface="Calibri" pitchFamily="34" charset="-120"/>
              </a:rPr>
              <a:t>Selection Bias in Data</a:t>
            </a:r>
            <a:endParaRPr lang="en-US" sz="1300" dirty="0"/>
          </a:p>
        </p:txBody>
      </p:sp>
      <p:sp>
        <p:nvSpPr>
          <p:cNvPr id="7" name="Text 5"/>
          <p:cNvSpPr/>
          <p:nvPr/>
        </p:nvSpPr>
        <p:spPr>
          <a:xfrm>
            <a:off x="2926080" y="1600200"/>
            <a:ext cx="5760720" cy="320040"/>
          </a:xfrm>
          <a:prstGeom prst="rect">
            <a:avLst/>
          </a:prstGeom>
          <a:noFill/>
          <a:ln/>
        </p:spPr>
        <p:txBody>
          <a:bodyPr wrap="square" rtlCol="0" anchor="ctr"/>
          <a:lstStyle/>
          <a:p>
            <a:pPr marL="0" indent="0" algn="l">
              <a:buNone/>
            </a:pPr>
            <a:r>
              <a:rPr lang="en-US" sz="1300" dirty="0">
                <a:solidFill>
                  <a:srgbClr val="333333"/>
                </a:solidFill>
                <a:latin typeface="Calibri" pitchFamily="34" charset="0"/>
                <a:ea typeface="Calibri" pitchFamily="34" charset="-122"/>
                <a:cs typeface="Calibri" pitchFamily="34" charset="-120"/>
              </a:rPr>
              <a:t>Over- or under-representation of certain units based on how data were collected or reported.</a:t>
            </a:r>
            <a:endParaRPr lang="en-US" sz="1300" dirty="0"/>
          </a:p>
        </p:txBody>
      </p:sp>
      <p:sp>
        <p:nvSpPr>
          <p:cNvPr id="8" name="Text 6"/>
          <p:cNvSpPr/>
          <p:nvPr/>
        </p:nvSpPr>
        <p:spPr>
          <a:xfrm>
            <a:off x="640080" y="2194560"/>
            <a:ext cx="2103120" cy="320040"/>
          </a:xfrm>
          <a:prstGeom prst="rect">
            <a:avLst/>
          </a:prstGeom>
          <a:noFill/>
          <a:ln/>
        </p:spPr>
        <p:txBody>
          <a:bodyPr wrap="square" rtlCol="0" anchor="ctr"/>
          <a:lstStyle/>
          <a:p>
            <a:pPr marL="0" indent="0" algn="l">
              <a:buNone/>
            </a:pPr>
            <a:r>
              <a:rPr lang="en-US" sz="1300" b="1" dirty="0">
                <a:solidFill>
                  <a:srgbClr val="333333"/>
                </a:solidFill>
                <a:latin typeface="Calibri" pitchFamily="34" charset="0"/>
                <a:ea typeface="Calibri" pitchFamily="34" charset="-122"/>
                <a:cs typeface="Calibri" pitchFamily="34" charset="-120"/>
              </a:rPr>
              <a:t>Audit Trail</a:t>
            </a:r>
            <a:endParaRPr lang="en-US" sz="1300" dirty="0"/>
          </a:p>
        </p:txBody>
      </p:sp>
      <p:sp>
        <p:nvSpPr>
          <p:cNvPr id="9" name="Text 7"/>
          <p:cNvSpPr/>
          <p:nvPr/>
        </p:nvSpPr>
        <p:spPr>
          <a:xfrm>
            <a:off x="2926080" y="2194560"/>
            <a:ext cx="5760720" cy="320040"/>
          </a:xfrm>
          <a:prstGeom prst="rect">
            <a:avLst/>
          </a:prstGeom>
          <a:noFill/>
          <a:ln/>
        </p:spPr>
        <p:txBody>
          <a:bodyPr wrap="square" rtlCol="0" anchor="ctr"/>
          <a:lstStyle/>
          <a:p>
            <a:pPr marL="0" indent="0" algn="l">
              <a:buNone/>
            </a:pPr>
            <a:r>
              <a:rPr lang="en-US" sz="1300" dirty="0">
                <a:solidFill>
                  <a:srgbClr val="333333"/>
                </a:solidFill>
                <a:latin typeface="Calibri" pitchFamily="34" charset="0"/>
                <a:ea typeface="Calibri" pitchFamily="34" charset="-122"/>
                <a:cs typeface="Calibri" pitchFamily="34" charset="-120"/>
              </a:rPr>
              <a:t>Documentation of data provenance: source, collection methods, transformations, and quality checks.</a:t>
            </a:r>
            <a:endParaRPr lang="en-US" sz="1300" dirty="0"/>
          </a:p>
        </p:txBody>
      </p:sp>
      <p:sp>
        <p:nvSpPr>
          <p:cNvPr id="10" name="Text 8"/>
          <p:cNvSpPr/>
          <p:nvPr/>
        </p:nvSpPr>
        <p:spPr>
          <a:xfrm>
            <a:off x="640080" y="2788920"/>
            <a:ext cx="2103120" cy="320040"/>
          </a:xfrm>
          <a:prstGeom prst="rect">
            <a:avLst/>
          </a:prstGeom>
          <a:noFill/>
          <a:ln/>
        </p:spPr>
        <p:txBody>
          <a:bodyPr wrap="square" rtlCol="0" anchor="ctr"/>
          <a:lstStyle/>
          <a:p>
            <a:pPr marL="0" indent="0" algn="l">
              <a:buNone/>
            </a:pPr>
            <a:r>
              <a:rPr lang="en-US" sz="1300" b="1" dirty="0">
                <a:solidFill>
                  <a:srgbClr val="333333"/>
                </a:solidFill>
                <a:latin typeface="Calibri" pitchFamily="34" charset="0"/>
                <a:ea typeface="Calibri" pitchFamily="34" charset="-122"/>
                <a:cs typeface="Calibri" pitchFamily="34" charset="-120"/>
              </a:rPr>
              <a:t>Gold Standard</a:t>
            </a:r>
            <a:endParaRPr lang="en-US" sz="1300" dirty="0"/>
          </a:p>
        </p:txBody>
      </p:sp>
      <p:sp>
        <p:nvSpPr>
          <p:cNvPr id="11" name="Text 9"/>
          <p:cNvSpPr/>
          <p:nvPr/>
        </p:nvSpPr>
        <p:spPr>
          <a:xfrm>
            <a:off x="2926080" y="2788920"/>
            <a:ext cx="5760720" cy="320040"/>
          </a:xfrm>
          <a:prstGeom prst="rect">
            <a:avLst/>
          </a:prstGeom>
          <a:noFill/>
          <a:ln/>
        </p:spPr>
        <p:txBody>
          <a:bodyPr wrap="square" rtlCol="0" anchor="ctr"/>
          <a:lstStyle/>
          <a:p>
            <a:pPr marL="0" indent="0" algn="l">
              <a:buNone/>
            </a:pPr>
            <a:r>
              <a:rPr lang="en-US" sz="1300" dirty="0">
                <a:solidFill>
                  <a:srgbClr val="333333"/>
                </a:solidFill>
                <a:latin typeface="Calibri" pitchFamily="34" charset="0"/>
                <a:ea typeface="Calibri" pitchFamily="34" charset="-122"/>
                <a:cs typeface="Calibri" pitchFamily="34" charset="-120"/>
              </a:rPr>
              <a:t>Validated reference data, often human-coded, used to assess automated method accuracy.</a:t>
            </a:r>
            <a:endParaRPr lang="en-US" sz="1300" dirty="0"/>
          </a:p>
        </p:txBody>
      </p:sp>
      <p:sp>
        <p:nvSpPr>
          <p:cNvPr id="12" name="Text 10"/>
          <p:cNvSpPr/>
          <p:nvPr/>
        </p:nvSpPr>
        <p:spPr>
          <a:xfrm>
            <a:off x="640080" y="3383280"/>
            <a:ext cx="2103120" cy="320040"/>
          </a:xfrm>
          <a:prstGeom prst="rect">
            <a:avLst/>
          </a:prstGeom>
          <a:noFill/>
          <a:ln/>
        </p:spPr>
        <p:txBody>
          <a:bodyPr wrap="square" rtlCol="0" anchor="ctr"/>
          <a:lstStyle/>
          <a:p>
            <a:pPr marL="0" indent="0" algn="l">
              <a:buNone/>
            </a:pPr>
            <a:r>
              <a:rPr lang="en-US" sz="1300" b="1" dirty="0">
                <a:solidFill>
                  <a:srgbClr val="333333"/>
                </a:solidFill>
                <a:latin typeface="Calibri" pitchFamily="34" charset="0"/>
                <a:ea typeface="Calibri" pitchFamily="34" charset="-122"/>
                <a:cs typeface="Calibri" pitchFamily="34" charset="-120"/>
              </a:rPr>
              <a:t>Sensitivity Analysis</a:t>
            </a:r>
            <a:endParaRPr lang="en-US" sz="1300" dirty="0"/>
          </a:p>
        </p:txBody>
      </p:sp>
      <p:sp>
        <p:nvSpPr>
          <p:cNvPr id="13" name="Text 11"/>
          <p:cNvSpPr/>
          <p:nvPr/>
        </p:nvSpPr>
        <p:spPr>
          <a:xfrm>
            <a:off x="2926080" y="3383280"/>
            <a:ext cx="5760720" cy="320040"/>
          </a:xfrm>
          <a:prstGeom prst="rect">
            <a:avLst/>
          </a:prstGeom>
          <a:noFill/>
          <a:ln/>
        </p:spPr>
        <p:txBody>
          <a:bodyPr wrap="square" rtlCol="0" anchor="ctr"/>
          <a:lstStyle/>
          <a:p>
            <a:pPr marL="0" indent="0" algn="l">
              <a:buNone/>
            </a:pPr>
            <a:r>
              <a:rPr lang="en-US" sz="1300" dirty="0">
                <a:solidFill>
                  <a:srgbClr val="333333"/>
                </a:solidFill>
                <a:latin typeface="Calibri" pitchFamily="34" charset="0"/>
                <a:ea typeface="Calibri" pitchFamily="34" charset="-122"/>
                <a:cs typeface="Calibri" pitchFamily="34" charset="-120"/>
              </a:rPr>
              <a:t>Testing whether conclusions change under different assumptions about measurement error.</a:t>
            </a:r>
            <a:endParaRPr lang="en-US" sz="1300" dirty="0"/>
          </a:p>
        </p:txBody>
      </p:sp>
      <p:sp>
        <p:nvSpPr>
          <p:cNvPr id="14" name="Text 12"/>
          <p:cNvSpPr/>
          <p:nvPr/>
        </p:nvSpPr>
        <p:spPr>
          <a:xfrm>
            <a:off x="640080" y="3977640"/>
            <a:ext cx="2103120" cy="320040"/>
          </a:xfrm>
          <a:prstGeom prst="rect">
            <a:avLst/>
          </a:prstGeom>
          <a:noFill/>
          <a:ln/>
        </p:spPr>
        <p:txBody>
          <a:bodyPr wrap="square" rtlCol="0" anchor="ctr"/>
          <a:lstStyle/>
          <a:p>
            <a:pPr marL="0" indent="0" algn="l">
              <a:buNone/>
            </a:pPr>
            <a:r>
              <a:rPr lang="en-US" sz="1300" b="1" dirty="0">
                <a:solidFill>
                  <a:srgbClr val="333333"/>
                </a:solidFill>
                <a:latin typeface="Calibri" pitchFamily="34" charset="0"/>
                <a:ea typeface="Calibri" pitchFamily="34" charset="-122"/>
                <a:cs typeface="Calibri" pitchFamily="34" charset="-120"/>
              </a:rPr>
              <a:t>Imputation</a:t>
            </a:r>
            <a:endParaRPr lang="en-US" sz="1300" dirty="0"/>
          </a:p>
        </p:txBody>
      </p:sp>
      <p:sp>
        <p:nvSpPr>
          <p:cNvPr id="15" name="Text 13"/>
          <p:cNvSpPr/>
          <p:nvPr/>
        </p:nvSpPr>
        <p:spPr>
          <a:xfrm>
            <a:off x="2926080" y="3977640"/>
            <a:ext cx="5760720" cy="320040"/>
          </a:xfrm>
          <a:prstGeom prst="rect">
            <a:avLst/>
          </a:prstGeom>
          <a:noFill/>
          <a:ln/>
        </p:spPr>
        <p:txBody>
          <a:bodyPr wrap="square" rtlCol="0" anchor="ctr"/>
          <a:lstStyle/>
          <a:p>
            <a:pPr marL="0" indent="0" algn="l">
              <a:buNone/>
            </a:pPr>
            <a:r>
              <a:rPr lang="en-US" sz="1300" dirty="0">
                <a:solidFill>
                  <a:srgbClr val="333333"/>
                </a:solidFill>
                <a:latin typeface="Calibri" pitchFamily="34" charset="0"/>
                <a:ea typeface="Calibri" pitchFamily="34" charset="-122"/>
                <a:cs typeface="Calibri" pitchFamily="34" charset="-120"/>
              </a:rPr>
              <a:t>Estimating missing values based on observed data; can introduce bias if missingness is not random.</a:t>
            </a:r>
            <a:endParaRPr lang="en-US" sz="13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74320"/>
            <a:ext cx="8229600" cy="365760"/>
          </a:xfrm>
          <a:prstGeom prst="rect">
            <a:avLst/>
          </a:prstGeom>
          <a:noFill/>
          <a:ln/>
        </p:spPr>
        <p:txBody>
          <a:bodyPr wrap="square" rtlCol="0" anchor="ctr"/>
          <a:lstStyle/>
          <a:p>
            <a:pPr marL="0" indent="0">
              <a:buNone/>
            </a:pPr>
            <a:r>
              <a:rPr lang="en-US" sz="2400" b="1" dirty="0">
                <a:solidFill>
                  <a:srgbClr val="333333"/>
                </a:solidFill>
                <a:latin typeface="Georgia" pitchFamily="34" charset="0"/>
                <a:ea typeface="Georgia" pitchFamily="34" charset="-122"/>
                <a:cs typeface="Georgia" pitchFamily="34" charset="-120"/>
              </a:rPr>
              <a:t>Discussion Questions</a:t>
            </a:r>
            <a:endParaRPr lang="en-US" sz="2400" dirty="0"/>
          </a:p>
        </p:txBody>
      </p:sp>
      <p:sp>
        <p:nvSpPr>
          <p:cNvPr id="3" name="Shape 1"/>
          <p:cNvSpPr/>
          <p:nvPr/>
        </p:nvSpPr>
        <p:spPr>
          <a:xfrm>
            <a:off x="457200" y="731520"/>
            <a:ext cx="8229600" cy="0"/>
          </a:xfrm>
          <a:prstGeom prst="line">
            <a:avLst/>
          </a:prstGeom>
          <a:noFill/>
          <a:ln w="12700">
            <a:solidFill>
              <a:srgbClr val="CCCCCC"/>
            </a:solidFill>
            <a:prstDash val="solid"/>
          </a:ln>
        </p:spPr>
        <p:txBody>
          <a:bodyPr/>
          <a:lstStyle/>
          <a:p>
            <a:endParaRPr lang="en-US"/>
          </a:p>
        </p:txBody>
      </p:sp>
      <p:sp>
        <p:nvSpPr>
          <p:cNvPr id="4" name="Text 2"/>
          <p:cNvSpPr/>
          <p:nvPr/>
        </p:nvSpPr>
        <p:spPr>
          <a:xfrm>
            <a:off x="640080" y="1219691"/>
            <a:ext cx="8046720" cy="0"/>
          </a:xfrm>
          <a:prstGeom prst="rect">
            <a:avLst/>
          </a:prstGeom>
          <a:noFill/>
          <a:ln/>
        </p:spPr>
        <p:txBody>
          <a:bodyPr wrap="square" rtlCol="0" anchor="ctr"/>
          <a:lstStyle/>
          <a:p>
            <a:pPr marL="342900" indent="-342900" algn="l">
              <a:buSzPct val="100000"/>
              <a:buChar char="•"/>
            </a:pPr>
            <a:r>
              <a:rPr lang="en-US" sz="1400" dirty="0">
                <a:solidFill>
                  <a:srgbClr val="333333"/>
                </a:solidFill>
                <a:latin typeface="Calibri" pitchFamily="34" charset="0"/>
                <a:ea typeface="Calibri" pitchFamily="34" charset="-122"/>
                <a:cs typeface="Calibri" pitchFamily="34" charset="-120"/>
              </a:rPr>
              <a:t>Lazer et al. show that Google Flu Trends failed to predict flu rates in 2013. The algorithm was accurate in prior years, so what does this case teach about validation? How would you design an early-warning system for algorithm failure?</a:t>
            </a:r>
            <a:endParaRPr lang="en-US" sz="1400" dirty="0"/>
          </a:p>
        </p:txBody>
      </p:sp>
      <p:sp>
        <p:nvSpPr>
          <p:cNvPr id="5" name="Text 3"/>
          <p:cNvSpPr/>
          <p:nvPr/>
        </p:nvSpPr>
        <p:spPr>
          <a:xfrm>
            <a:off x="640080" y="2129668"/>
            <a:ext cx="8046720" cy="0"/>
          </a:xfrm>
          <a:prstGeom prst="rect">
            <a:avLst/>
          </a:prstGeom>
          <a:noFill/>
          <a:ln/>
        </p:spPr>
        <p:txBody>
          <a:bodyPr wrap="square" rtlCol="0" anchor="ctr"/>
          <a:lstStyle/>
          <a:p>
            <a:pPr marL="342900" indent="-342900" algn="l">
              <a:buSzPct val="100000"/>
              <a:buChar char="•"/>
            </a:pPr>
            <a:r>
              <a:rPr lang="en-US" sz="1400" dirty="0">
                <a:solidFill>
                  <a:srgbClr val="333333"/>
                </a:solidFill>
                <a:latin typeface="Calibri" pitchFamily="34" charset="0"/>
                <a:ea typeface="Calibri" pitchFamily="34" charset="-122"/>
                <a:cs typeface="Calibri" pitchFamily="34" charset="-120"/>
              </a:rPr>
              <a:t>Schrodt describes measurement errors in event data that are systematic, not random. How would you detect systematic bias in event coding? What approaches could correct for it?</a:t>
            </a:r>
            <a:endParaRPr lang="en-US" sz="1400" dirty="0"/>
          </a:p>
        </p:txBody>
      </p:sp>
      <p:sp>
        <p:nvSpPr>
          <p:cNvPr id="6" name="Text 4"/>
          <p:cNvSpPr/>
          <p:nvPr/>
        </p:nvSpPr>
        <p:spPr>
          <a:xfrm>
            <a:off x="640080" y="3017520"/>
            <a:ext cx="8046720" cy="0"/>
          </a:xfrm>
          <a:prstGeom prst="rect">
            <a:avLst/>
          </a:prstGeom>
          <a:noFill/>
          <a:ln/>
        </p:spPr>
        <p:txBody>
          <a:bodyPr wrap="square" rtlCol="0" anchor="ctr"/>
          <a:lstStyle/>
          <a:p>
            <a:pPr marL="342900" indent="-342900" algn="l">
              <a:buSzPct val="100000"/>
              <a:buChar char="•"/>
            </a:pPr>
            <a:r>
              <a:rPr lang="en-US" sz="1400" dirty="0">
                <a:solidFill>
                  <a:srgbClr val="333333"/>
                </a:solidFill>
                <a:latin typeface="Calibri" pitchFamily="34" charset="0"/>
                <a:ea typeface="Calibri" pitchFamily="34" charset="-122"/>
                <a:cs typeface="Calibri" pitchFamily="34" charset="-120"/>
              </a:rPr>
              <a:t>King, Schneer &amp; White show that media amplification shapes what data say about politics. If media bias is not random, can we estimate media effects from observational data? What about using experimental designs?</a:t>
            </a:r>
            <a:endParaRPr lang="en-US" sz="14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74320"/>
            <a:ext cx="8229600" cy="365760"/>
          </a:xfrm>
          <a:prstGeom prst="rect">
            <a:avLst/>
          </a:prstGeom>
          <a:noFill/>
          <a:ln/>
        </p:spPr>
        <p:txBody>
          <a:bodyPr wrap="square" rtlCol="0" anchor="ctr"/>
          <a:lstStyle/>
          <a:p>
            <a:pPr marL="0" indent="0">
              <a:buNone/>
            </a:pPr>
            <a:r>
              <a:rPr lang="en-US" sz="2400" b="1" dirty="0">
                <a:solidFill>
                  <a:srgbClr val="333333"/>
                </a:solidFill>
                <a:latin typeface="Georgia" pitchFamily="34" charset="0"/>
                <a:ea typeface="Georgia" pitchFamily="34" charset="-122"/>
                <a:cs typeface="Georgia" pitchFamily="34" charset="-120"/>
              </a:rPr>
              <a:t>Recommended Reading</a:t>
            </a:r>
            <a:endParaRPr lang="en-US" sz="2400" dirty="0"/>
          </a:p>
        </p:txBody>
      </p:sp>
      <p:sp>
        <p:nvSpPr>
          <p:cNvPr id="3" name="Shape 1"/>
          <p:cNvSpPr/>
          <p:nvPr/>
        </p:nvSpPr>
        <p:spPr>
          <a:xfrm>
            <a:off x="457200" y="731520"/>
            <a:ext cx="8229600" cy="0"/>
          </a:xfrm>
          <a:prstGeom prst="line">
            <a:avLst/>
          </a:prstGeom>
          <a:noFill/>
          <a:ln w="12700">
            <a:solidFill>
              <a:srgbClr val="CCCCCC"/>
            </a:solidFill>
            <a:prstDash val="solid"/>
          </a:ln>
        </p:spPr>
        <p:txBody>
          <a:bodyPr/>
          <a:lstStyle/>
          <a:p>
            <a:endParaRPr lang="en-US"/>
          </a:p>
        </p:txBody>
      </p:sp>
      <p:sp>
        <p:nvSpPr>
          <p:cNvPr id="4" name="Text 2"/>
          <p:cNvSpPr/>
          <p:nvPr/>
        </p:nvSpPr>
        <p:spPr>
          <a:xfrm>
            <a:off x="640080" y="1005840"/>
            <a:ext cx="8046720" cy="0"/>
          </a:xfrm>
          <a:prstGeom prst="rect">
            <a:avLst/>
          </a:prstGeom>
          <a:noFill/>
          <a:ln/>
        </p:spPr>
        <p:txBody>
          <a:bodyPr wrap="square" rtlCol="0" anchor="ctr"/>
          <a:lstStyle/>
          <a:p>
            <a:pPr marL="342900" indent="-342900" algn="l">
              <a:buSzPct val="100000"/>
              <a:buChar char="•"/>
            </a:pPr>
            <a:r>
              <a:rPr lang="en-US" sz="1100" dirty="0">
                <a:solidFill>
                  <a:srgbClr val="888888"/>
                </a:solidFill>
                <a:latin typeface="Calibri" pitchFamily="34" charset="0"/>
                <a:ea typeface="Calibri" pitchFamily="34" charset="-122"/>
                <a:cs typeface="Calibri" pitchFamily="34" charset="-120"/>
              </a:rPr>
              <a:t>Lazer, D. M., Kennedy, R., King, G., &amp; Vespignani, A. (2014). "The Parable of Google Flu: Traps in Big Data Analysis." Science, 343(6176), 1203–1205.</a:t>
            </a:r>
            <a:endParaRPr lang="en-US" sz="1100" dirty="0"/>
          </a:p>
        </p:txBody>
      </p:sp>
      <p:sp>
        <p:nvSpPr>
          <p:cNvPr id="5" name="Text 3"/>
          <p:cNvSpPr/>
          <p:nvPr/>
        </p:nvSpPr>
        <p:spPr>
          <a:xfrm>
            <a:off x="640080" y="1691640"/>
            <a:ext cx="8046720" cy="0"/>
          </a:xfrm>
          <a:prstGeom prst="rect">
            <a:avLst/>
          </a:prstGeom>
          <a:noFill/>
          <a:ln/>
        </p:spPr>
        <p:txBody>
          <a:bodyPr wrap="square" rtlCol="0" anchor="ctr"/>
          <a:lstStyle/>
          <a:p>
            <a:pPr marL="342900" indent="-342900" algn="l">
              <a:buSzPct val="100000"/>
              <a:buChar char="•"/>
            </a:pPr>
            <a:r>
              <a:rPr lang="en-US" sz="1100" dirty="0">
                <a:solidFill>
                  <a:srgbClr val="888888"/>
                </a:solidFill>
                <a:latin typeface="Calibri" pitchFamily="34" charset="0"/>
                <a:ea typeface="Calibri" pitchFamily="34" charset="-122"/>
                <a:cs typeface="Calibri" pitchFamily="34" charset="-120"/>
              </a:rPr>
              <a:t>Schrodt, P. A. (2006). "Twenty Years of the Kansas Event Data System Project." The Political Methodologist, 14(1), 2–8.</a:t>
            </a:r>
            <a:endParaRPr lang="en-US" sz="1100" dirty="0"/>
          </a:p>
        </p:txBody>
      </p:sp>
      <p:sp>
        <p:nvSpPr>
          <p:cNvPr id="6" name="Text 4"/>
          <p:cNvSpPr/>
          <p:nvPr/>
        </p:nvSpPr>
        <p:spPr>
          <a:xfrm>
            <a:off x="640080" y="2377440"/>
            <a:ext cx="8046720" cy="0"/>
          </a:xfrm>
          <a:prstGeom prst="rect">
            <a:avLst/>
          </a:prstGeom>
          <a:noFill/>
          <a:ln/>
        </p:spPr>
        <p:txBody>
          <a:bodyPr wrap="square" rtlCol="0" anchor="ctr"/>
          <a:lstStyle/>
          <a:p>
            <a:pPr marL="342900" indent="-342900" algn="l">
              <a:buSzPct val="100000"/>
              <a:buChar char="•"/>
            </a:pPr>
            <a:r>
              <a:rPr lang="en-US" sz="1100" dirty="0">
                <a:solidFill>
                  <a:srgbClr val="888888"/>
                </a:solidFill>
                <a:latin typeface="Calibri" pitchFamily="34" charset="0"/>
                <a:ea typeface="Calibri" pitchFamily="34" charset="-122"/>
                <a:cs typeface="Calibri" pitchFamily="34" charset="-120"/>
              </a:rPr>
              <a:t>King, G., Schneer, B., &amp; White, A. (2017). "How the News Media Activate Public Expression and Influence National Agendas." Science, 358(6364), 776–780.</a:t>
            </a:r>
            <a:endParaRPr lang="en-US" sz="1100" dirty="0"/>
          </a:p>
        </p:txBody>
      </p:sp>
      <p:sp>
        <p:nvSpPr>
          <p:cNvPr id="7" name="Text 5"/>
          <p:cNvSpPr/>
          <p:nvPr/>
        </p:nvSpPr>
        <p:spPr>
          <a:xfrm>
            <a:off x="640080" y="3063240"/>
            <a:ext cx="8046720" cy="0"/>
          </a:xfrm>
          <a:prstGeom prst="rect">
            <a:avLst/>
          </a:prstGeom>
          <a:noFill/>
          <a:ln/>
        </p:spPr>
        <p:txBody>
          <a:bodyPr wrap="square" rtlCol="0" anchor="ctr"/>
          <a:lstStyle/>
          <a:p>
            <a:pPr marL="342900" indent="-342900" algn="l">
              <a:buSzPct val="100000"/>
              <a:buChar char="•"/>
            </a:pPr>
            <a:r>
              <a:rPr lang="en-US" sz="1100" dirty="0">
                <a:solidFill>
                  <a:srgbClr val="888888"/>
                </a:solidFill>
                <a:latin typeface="Calibri" pitchFamily="34" charset="0"/>
                <a:ea typeface="Calibri" pitchFamily="34" charset="-122"/>
                <a:cs typeface="Calibri" pitchFamily="34" charset="-120"/>
              </a:rPr>
              <a:t>Poirier, H., Frick, C., Ouarza, O., &amp; Benoit, K. (2020). "Improving Crowdsourced Text Annotation with Hierarchical Active Learning." In Proceedings of NAACL.</a:t>
            </a:r>
            <a:endParaRPr lang="en-US" sz="1100" dirty="0"/>
          </a:p>
        </p:txBody>
      </p:sp>
      <p:sp>
        <p:nvSpPr>
          <p:cNvPr id="8" name="Text 6"/>
          <p:cNvSpPr/>
          <p:nvPr/>
        </p:nvSpPr>
        <p:spPr>
          <a:xfrm>
            <a:off x="640080" y="3749040"/>
            <a:ext cx="8046720" cy="0"/>
          </a:xfrm>
          <a:prstGeom prst="rect">
            <a:avLst/>
          </a:prstGeom>
          <a:noFill/>
          <a:ln/>
        </p:spPr>
        <p:txBody>
          <a:bodyPr wrap="square" rtlCol="0" anchor="ctr"/>
          <a:lstStyle/>
          <a:p>
            <a:pPr marL="342900" indent="-342900" algn="l">
              <a:buSzPct val="100000"/>
              <a:buChar char="•"/>
            </a:pPr>
            <a:r>
              <a:rPr lang="en-US" sz="1100" dirty="0">
                <a:solidFill>
                  <a:srgbClr val="888888"/>
                </a:solidFill>
                <a:latin typeface="Calibri" pitchFamily="34" charset="0"/>
                <a:ea typeface="Calibri" pitchFamily="34" charset="-122"/>
                <a:cs typeface="Calibri" pitchFamily="34" charset="-120"/>
              </a:rPr>
              <a:t>Little, R. J. A., &amp; Rubin, D. B. (2002). Statistical Analysis with Missing Data (2nd ed.). Wiley.</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711</Words>
  <Application>Microsoft Office PowerPoint</Application>
  <PresentationFormat>On-screen Show (16:9)</PresentationFormat>
  <Paragraphs>36</Paragraphs>
  <Slides>6</Slides>
  <Notes>6</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6</vt:i4>
      </vt:variant>
    </vt:vector>
  </HeadingPairs>
  <TitlesOfParts>
    <vt:vector size="10" baseType="lpstr">
      <vt:lpstr>Arial</vt:lpstr>
      <vt:lpstr>Calibri</vt:lpstr>
      <vt:lpstr>Georgia</vt:lpstr>
      <vt:lpstr>Office Theme</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Jared Edgerton</cp:lastModifiedBy>
  <cp:revision>2</cp:revision>
  <dcterms:created xsi:type="dcterms:W3CDTF">2026-03-17T22:23:10Z</dcterms:created>
  <dcterms:modified xsi:type="dcterms:W3CDTF">2026-03-18T15:20:55Z</dcterms:modified>
</cp:coreProperties>
</file>