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097280"/>
            <a:ext cx="8229600" cy="1097280"/>
          </a:xfrm>
          <a:prstGeom prst="rect">
            <a:avLst/>
          </a:prstGeom>
          <a:noFill/>
          <a:ln/>
        </p:spPr>
        <p:txBody>
          <a:bodyPr wrap="square" rtlCol="0" anchor="t"/>
          <a:lstStyle/>
          <a:p>
            <a:pPr algn="l" indent="0" marL="0">
              <a:buNone/>
            </a:pPr>
            <a:r>
              <a:rPr lang="en-US" sz="3600" dirty="0">
                <a:solidFill>
                  <a:srgbClr val="333333"/>
                </a:solidFill>
                <a:latin typeface="Georgia" pitchFamily="34" charset="0"/>
                <a:ea typeface="Georgia" pitchFamily="34" charset="-122"/>
                <a:cs typeface="Georgia" pitchFamily="34" charset="-120"/>
              </a:rPr>
              <a:t>Reproducibility and Research Artifacts</a:t>
            </a:r>
            <a:endParaRPr lang="en-US" sz="3600" dirty="0"/>
          </a:p>
        </p:txBody>
      </p:sp>
      <p:sp>
        <p:nvSpPr>
          <p:cNvPr id="3" name="Text 1"/>
          <p:cNvSpPr/>
          <p:nvPr/>
        </p:nvSpPr>
        <p:spPr>
          <a:xfrm>
            <a:off x="457200" y="2377440"/>
            <a:ext cx="8229600" cy="1097280"/>
          </a:xfrm>
          <a:prstGeom prst="rect">
            <a:avLst/>
          </a:prstGeom>
          <a:noFill/>
          <a:ln/>
        </p:spPr>
        <p:txBody>
          <a:bodyPr wrap="square" rtlCol="0" anchor="t"/>
          <a:lstStyle/>
          <a:p>
            <a:pPr algn="l" indent="0" marL="0">
              <a:buNone/>
            </a:pPr>
            <a:r>
              <a:rPr lang="en-US" sz="1600" i="1" dirty="0">
                <a:solidFill>
                  <a:srgbClr val="666666"/>
                </a:solidFill>
                <a:latin typeface="Calibri" pitchFamily="34" charset="0"/>
                <a:ea typeface="Calibri" pitchFamily="34" charset="-122"/>
                <a:cs typeface="Calibri" pitchFamily="34" charset="-120"/>
              </a:rPr>
              <a:t>How can we ensure computational findings are robust across different environments and replicable by other researchers?</a:t>
            </a:r>
            <a:endParaRPr lang="en-US" sz="1600" dirty="0"/>
          </a:p>
        </p:txBody>
      </p:sp>
      <p:sp>
        <p:nvSpPr>
          <p:cNvPr id="4" name="Shape 2"/>
          <p:cNvSpPr/>
          <p:nvPr/>
        </p:nvSpPr>
        <p:spPr>
          <a:xfrm>
            <a:off x="457200" y="3566160"/>
            <a:ext cx="8229600" cy="0"/>
          </a:xfrm>
          <a:prstGeom prst="line">
            <a:avLst/>
          </a:prstGeom>
          <a:noFill/>
          <a:ln w="12700">
            <a:solidFill>
              <a:srgbClr val="CCCCCC"/>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2400" b="1" dirty="0">
                <a:solidFill>
                  <a:srgbClr val="333333"/>
                </a:solidFill>
                <a:latin typeface="Georgia" pitchFamily="34" charset="0"/>
                <a:ea typeface="Georgia" pitchFamily="34" charset="-122"/>
                <a:cs typeface="Georgia" pitchFamily="34" charset="-120"/>
              </a:rPr>
              <a:t>Why This Matters</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sp>
      <p:sp>
        <p:nvSpPr>
          <p:cNvPr id="4" name="Text 2"/>
          <p:cNvSpPr/>
          <p:nvPr/>
        </p:nvSpPr>
        <p:spPr>
          <a:xfrm>
            <a:off x="457200" y="914400"/>
            <a:ext cx="8229600" cy="1828800"/>
          </a:xfrm>
          <a:prstGeom prst="rect">
            <a:avLst/>
          </a:prstGeom>
          <a:noFill/>
          <a:ln/>
        </p:spPr>
        <p:txBody>
          <a:bodyPr wrap="square" rtlCol="0" anchor="t"/>
          <a:lstStyle/>
          <a:p>
            <a:pPr algn="l" indent="0" marL="0">
              <a:buNone/>
            </a:pPr>
            <a:r>
              <a:rPr lang="en-US" sz="1300" dirty="0">
                <a:solidFill>
                  <a:srgbClr val="333333"/>
                </a:solidFill>
                <a:latin typeface="Calibri" pitchFamily="34" charset="0"/>
                <a:ea typeface="Calibri" pitchFamily="34" charset="-122"/>
                <a:cs typeface="Calibri" pitchFamily="34" charset="-120"/>
              </a:rPr>
              <a:t>The replication crisis in social science has exposed fundamental vulnerabilities in how we conduct and validate research. Computational social science is especially fragile—code execution depends on specific package versions, operating systems, and library configurations that can shift beneath our feet. A study published today using Python 3.8 and sklearn 0.23.2 may not reproduce in six months, let alone six years. Freese &amp; Peterson (2017) found that among 65 studies in American Sociological Review, only 59% provided sufficient data and materials for reproduction; the success rate is even lower for computationally intensive work.</a:t>
            </a:r>
            <a:endParaRPr lang="en-US" sz="1300" dirty="0"/>
          </a:p>
        </p:txBody>
      </p:sp>
      <p:sp>
        <p:nvSpPr>
          <p:cNvPr id="5" name="Text 3"/>
          <p:cNvSpPr/>
          <p:nvPr/>
        </p:nvSpPr>
        <p:spPr>
          <a:xfrm>
            <a:off x="457200" y="2926080"/>
            <a:ext cx="8229600" cy="1828800"/>
          </a:xfrm>
          <a:prstGeom prst="rect">
            <a:avLst/>
          </a:prstGeom>
          <a:noFill/>
          <a:ln/>
        </p:spPr>
        <p:txBody>
          <a:bodyPr wrap="square" rtlCol="0" anchor="t"/>
          <a:lstStyle/>
          <a:p>
            <a:pPr algn="l" indent="0" marL="0">
              <a:buNone/>
            </a:pPr>
            <a:r>
              <a:rPr lang="en-US" sz="1300" dirty="0">
                <a:solidFill>
                  <a:srgbClr val="333333"/>
                </a:solidFill>
                <a:latin typeface="Calibri" pitchFamily="34" charset="0"/>
                <a:ea typeface="Calibri" pitchFamily="34" charset="-122"/>
                <a:cs typeface="Calibri" pitchFamily="34" charset="-120"/>
              </a:rPr>
              <a:t>Beyond transparency, reproducibility is a validity threat. When our analysis depends on undocumented preprocessing, unshared random seeds, or computational environments that cannot be recreated, we cannot separate our findings from artifacts of our workflow. Christensen &amp; Miguel (2018) argue that transparency and reproducibility are prerequisites for credibility in empirical economics—and that argument applies equally to computational social science.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2400" b="1" dirty="0">
                <a:solidFill>
                  <a:srgbClr val="333333"/>
                </a:solidFill>
                <a:latin typeface="Georgia" pitchFamily="34" charset="0"/>
                <a:ea typeface="Georgia" pitchFamily="34" charset="-122"/>
                <a:cs typeface="Georgia" pitchFamily="34" charset="-120"/>
              </a:rPr>
              <a:t>Why This Matters</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sp>
      <p:sp>
        <p:nvSpPr>
          <p:cNvPr id="4" name="Text 2"/>
          <p:cNvSpPr/>
          <p:nvPr/>
        </p:nvSpPr>
        <p:spPr>
          <a:xfrm>
            <a:off x="457200" y="914400"/>
            <a:ext cx="8229600" cy="3657600"/>
          </a:xfrm>
          <a:prstGeom prst="rect">
            <a:avLst/>
          </a:prstGeom>
          <a:noFill/>
          <a:ln/>
        </p:spPr>
        <p:txBody>
          <a:bodyPr wrap="square" rtlCol="0" anchor="t"/>
          <a:lstStyle/>
          <a:p>
            <a:pPr algn="l" indent="0" marL="0">
              <a:buNone/>
            </a:pPr>
            <a:r>
              <a:rPr lang="en-US" sz="1300" dirty="0">
                <a:solidFill>
                  <a:srgbClr val="333333"/>
                </a:solidFill>
                <a:latin typeface="Calibri" pitchFamily="34" charset="0"/>
                <a:ea typeface="Calibri" pitchFamily="34" charset="-122"/>
                <a:cs typeface="Calibri" pitchFamily="34" charset="-120"/>
              </a:rPr>
              <a:t>Solutions exist: containerization (Docker), computational notebooks that blend code and documentation, version control, and open science frameworks. Stodden, McNutt &amp; Bailey (2016) show that researchers who publish code receive more citations and their work has greater impact. The path forward requires treating code, data, and computational environments as scholarly artifacts worthy of archiving and peer review.</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2400" b="1" dirty="0">
                <a:solidFill>
                  <a:srgbClr val="333333"/>
                </a:solidFill>
                <a:latin typeface="Georgia" pitchFamily="34" charset="0"/>
                <a:ea typeface="Georgia" pitchFamily="34" charset="-122"/>
                <a:cs typeface="Georgia" pitchFamily="34" charset="-120"/>
              </a:rPr>
              <a:t>Key Concepts &amp; Methods</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sp>
      <p:sp>
        <p:nvSpPr>
          <p:cNvPr id="4" name="Text 2"/>
          <p:cNvSpPr/>
          <p:nvPr/>
        </p:nvSpPr>
        <p:spPr>
          <a:xfrm>
            <a:off x="640080" y="100584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Computational Environment</a:t>
            </a:r>
            <a:endParaRPr lang="en-US" sz="1300" dirty="0"/>
          </a:p>
        </p:txBody>
      </p:sp>
      <p:sp>
        <p:nvSpPr>
          <p:cNvPr id="5" name="Text 3"/>
          <p:cNvSpPr/>
          <p:nvPr/>
        </p:nvSpPr>
        <p:spPr>
          <a:xfrm>
            <a:off x="2926080" y="100584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The complete system (OS, language version, package versions, dependencies) in which code executes.</a:t>
            </a:r>
            <a:endParaRPr lang="en-US" sz="1300" dirty="0"/>
          </a:p>
        </p:txBody>
      </p:sp>
      <p:sp>
        <p:nvSpPr>
          <p:cNvPr id="6" name="Text 4"/>
          <p:cNvSpPr/>
          <p:nvPr/>
        </p:nvSpPr>
        <p:spPr>
          <a:xfrm>
            <a:off x="640080" y="160020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Replicability</a:t>
            </a:r>
            <a:endParaRPr lang="en-US" sz="1300" dirty="0"/>
          </a:p>
        </p:txBody>
      </p:sp>
      <p:sp>
        <p:nvSpPr>
          <p:cNvPr id="7" name="Text 5"/>
          <p:cNvSpPr/>
          <p:nvPr/>
        </p:nvSpPr>
        <p:spPr>
          <a:xfrm>
            <a:off x="2926080" y="160020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Same researcher, same data, same analysis code—does it produce the same results?</a:t>
            </a:r>
            <a:endParaRPr lang="en-US" sz="1300" dirty="0"/>
          </a:p>
        </p:txBody>
      </p:sp>
      <p:sp>
        <p:nvSpPr>
          <p:cNvPr id="8" name="Text 6"/>
          <p:cNvSpPr/>
          <p:nvPr/>
        </p:nvSpPr>
        <p:spPr>
          <a:xfrm>
            <a:off x="640080" y="219456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Reproducibility</a:t>
            </a:r>
            <a:endParaRPr lang="en-US" sz="1300" dirty="0"/>
          </a:p>
        </p:txBody>
      </p:sp>
      <p:sp>
        <p:nvSpPr>
          <p:cNvPr id="9" name="Text 7"/>
          <p:cNvSpPr/>
          <p:nvPr/>
        </p:nvSpPr>
        <p:spPr>
          <a:xfrm>
            <a:off x="2926080" y="219456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Different researcher, same data, same documented methods—can they achieve similar conclusions?</a:t>
            </a:r>
            <a:endParaRPr lang="en-US" sz="1300" dirty="0"/>
          </a:p>
        </p:txBody>
      </p:sp>
      <p:sp>
        <p:nvSpPr>
          <p:cNvPr id="10" name="Text 8"/>
          <p:cNvSpPr/>
          <p:nvPr/>
        </p:nvSpPr>
        <p:spPr>
          <a:xfrm>
            <a:off x="640080" y="278892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Containerization</a:t>
            </a:r>
            <a:endParaRPr lang="en-US" sz="1300" dirty="0"/>
          </a:p>
        </p:txBody>
      </p:sp>
      <p:sp>
        <p:nvSpPr>
          <p:cNvPr id="11" name="Text 9"/>
          <p:cNvSpPr/>
          <p:nvPr/>
        </p:nvSpPr>
        <p:spPr>
          <a:xfrm>
            <a:off x="2926080" y="278892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Packaging code and environment (via Docker) to ensure consistency across machines.</a:t>
            </a:r>
            <a:endParaRPr lang="en-US" sz="1300" dirty="0"/>
          </a:p>
        </p:txBody>
      </p:sp>
      <p:sp>
        <p:nvSpPr>
          <p:cNvPr id="12" name="Text 10"/>
          <p:cNvSpPr/>
          <p:nvPr/>
        </p:nvSpPr>
        <p:spPr>
          <a:xfrm>
            <a:off x="640080" y="338328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Version Control</a:t>
            </a:r>
            <a:endParaRPr lang="en-US" sz="1300" dirty="0"/>
          </a:p>
        </p:txBody>
      </p:sp>
      <p:sp>
        <p:nvSpPr>
          <p:cNvPr id="13" name="Text 11"/>
          <p:cNvSpPr/>
          <p:nvPr/>
        </p:nvSpPr>
        <p:spPr>
          <a:xfrm>
            <a:off x="2926080" y="338328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Tracking changes to code (Git) to enable audit trails and backtracking.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2400" b="1" dirty="0">
                <a:solidFill>
                  <a:srgbClr val="333333"/>
                </a:solidFill>
                <a:latin typeface="Georgia" pitchFamily="34" charset="0"/>
                <a:ea typeface="Georgia" pitchFamily="34" charset="-122"/>
                <a:cs typeface="Georgia" pitchFamily="34" charset="-120"/>
              </a:rPr>
              <a:t>Discussion Questions</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sp>
      <p:sp>
        <p:nvSpPr>
          <p:cNvPr id="4" name="Text 2"/>
          <p:cNvSpPr/>
          <p:nvPr/>
        </p:nvSpPr>
        <p:spPr>
          <a:xfrm>
            <a:off x="640080" y="1005840"/>
            <a:ext cx="8046720" cy="0"/>
          </a:xfrm>
          <a:prstGeom prst="rect">
            <a:avLst/>
          </a:prstGeom>
          <a:noFill/>
          <a:ln/>
        </p:spPr>
        <p:txBody>
          <a:bodyPr wrap="square" rtlCol="0" anchor="ctr"/>
          <a:lstStyle/>
          <a:p>
            <a:pPr algn="l" marL="342900" indent="-342900">
              <a:buSzPct val="100000"/>
              <a:buChar char="•"/>
            </a:pPr>
            <a:r>
              <a:rPr lang="en-US" sz="1400" dirty="0">
                <a:solidFill>
                  <a:srgbClr val="333333"/>
                </a:solidFill>
                <a:latin typeface="Calibri" pitchFamily="34" charset="0"/>
                <a:ea typeface="Calibri" pitchFamily="34" charset="-122"/>
                <a:cs typeface="Calibri" pitchFamily="34" charset="-120"/>
              </a:rPr>
              <a:t>Freese &amp; Peterson found that many published papers lacked sufficient information for replication. What barriers prevent researchers from sharing all materials, and what incentives might overcome them?</a:t>
            </a:r>
            <a:endParaRPr lang="en-US" sz="1400" dirty="0"/>
          </a:p>
        </p:txBody>
      </p:sp>
      <p:sp>
        <p:nvSpPr>
          <p:cNvPr id="5" name="Text 3"/>
          <p:cNvSpPr/>
          <p:nvPr/>
        </p:nvSpPr>
        <p:spPr>
          <a:xfrm>
            <a:off x="640080" y="2011680"/>
            <a:ext cx="8046720" cy="0"/>
          </a:xfrm>
          <a:prstGeom prst="rect">
            <a:avLst/>
          </a:prstGeom>
          <a:noFill/>
          <a:ln/>
        </p:spPr>
        <p:txBody>
          <a:bodyPr wrap="square" rtlCol="0" anchor="ctr"/>
          <a:lstStyle/>
          <a:p>
            <a:pPr algn="l" marL="342900" indent="-342900">
              <a:buSzPct val="100000"/>
              <a:buChar char="•"/>
            </a:pPr>
            <a:r>
              <a:rPr lang="en-US" sz="1400" dirty="0">
                <a:solidFill>
                  <a:srgbClr val="333333"/>
                </a:solidFill>
                <a:latin typeface="Calibri" pitchFamily="34" charset="0"/>
                <a:ea typeface="Calibri" pitchFamily="34" charset="-122"/>
                <a:cs typeface="Calibri" pitchFamily="34" charset="-120"/>
              </a:rPr>
              <a:t>Christensen &amp; Miguel argue that transparency about methods is insufficient—we need reproducible analysis pipelines. What is the difference between disclosing methods and enabling reproducibility?</a:t>
            </a:r>
            <a:endParaRPr lang="en-US" sz="1400" dirty="0"/>
          </a:p>
        </p:txBody>
      </p:sp>
      <p:sp>
        <p:nvSpPr>
          <p:cNvPr id="6" name="Text 4"/>
          <p:cNvSpPr/>
          <p:nvPr/>
        </p:nvSpPr>
        <p:spPr>
          <a:xfrm>
            <a:off x="640080" y="3017520"/>
            <a:ext cx="8046720" cy="0"/>
          </a:xfrm>
          <a:prstGeom prst="rect">
            <a:avLst/>
          </a:prstGeom>
          <a:noFill/>
          <a:ln/>
        </p:spPr>
        <p:txBody>
          <a:bodyPr wrap="square" rtlCol="0" anchor="ctr"/>
          <a:lstStyle/>
          <a:p>
            <a:pPr algn="l" marL="342900" indent="-342900">
              <a:buSzPct val="100000"/>
              <a:buChar char="•"/>
            </a:pPr>
            <a:r>
              <a:rPr lang="en-US" sz="1400" dirty="0">
                <a:solidFill>
                  <a:srgbClr val="333333"/>
                </a:solidFill>
                <a:latin typeface="Calibri" pitchFamily="34" charset="0"/>
                <a:ea typeface="Calibri" pitchFamily="34" charset="-122"/>
                <a:cs typeface="Calibri" pitchFamily="34" charset="-120"/>
              </a:rPr>
              <a:t>Stodden shows that code-sharing papers get more citations. Does this reflect the quality of the research, or selection effects? How would you design a study to answer this?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2400" b="1" dirty="0">
                <a:solidFill>
                  <a:srgbClr val="333333"/>
                </a:solidFill>
                <a:latin typeface="Georgia" pitchFamily="34" charset="0"/>
                <a:ea typeface="Georgia" pitchFamily="34" charset="-122"/>
                <a:cs typeface="Georgia" pitchFamily="34" charset="-120"/>
              </a:rPr>
              <a:t>Recommended Reading</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sp>
      <p:sp>
        <p:nvSpPr>
          <p:cNvPr id="4" name="Text 2"/>
          <p:cNvSpPr/>
          <p:nvPr/>
        </p:nvSpPr>
        <p:spPr>
          <a:xfrm>
            <a:off x="640080" y="1005840"/>
            <a:ext cx="8046720" cy="0"/>
          </a:xfrm>
          <a:prstGeom prst="rect">
            <a:avLst/>
          </a:prstGeom>
          <a:noFill/>
          <a:ln/>
        </p:spPr>
        <p:txBody>
          <a:bodyPr wrap="square" rtlCol="0" anchor="ctr"/>
          <a:lstStyle/>
          <a:p>
            <a:pPr algn="l" marL="342900" indent="-342900">
              <a:buSzPct val="100000"/>
              <a:buChar char="•"/>
            </a:pPr>
            <a:r>
              <a:rPr lang="en-US" sz="1100" dirty="0">
                <a:solidFill>
                  <a:srgbClr val="888888"/>
                </a:solidFill>
                <a:latin typeface="Calibri" pitchFamily="34" charset="0"/>
                <a:ea typeface="Calibri" pitchFamily="34" charset="-122"/>
                <a:cs typeface="Calibri" pitchFamily="34" charset="-120"/>
              </a:rPr>
              <a:t>Freese, J., &amp; Peterson, D. (2017). "Replication in Social Science." Annual Review of Sociology, 43, 147–165.</a:t>
            </a:r>
            <a:endParaRPr lang="en-US" sz="1100" dirty="0"/>
          </a:p>
        </p:txBody>
      </p:sp>
      <p:sp>
        <p:nvSpPr>
          <p:cNvPr id="5" name="Text 3"/>
          <p:cNvSpPr/>
          <p:nvPr/>
        </p:nvSpPr>
        <p:spPr>
          <a:xfrm>
            <a:off x="640080" y="1691640"/>
            <a:ext cx="8046720" cy="0"/>
          </a:xfrm>
          <a:prstGeom prst="rect">
            <a:avLst/>
          </a:prstGeom>
          <a:noFill/>
          <a:ln/>
        </p:spPr>
        <p:txBody>
          <a:bodyPr wrap="square" rtlCol="0" anchor="ctr"/>
          <a:lstStyle/>
          <a:p>
            <a:pPr algn="l" marL="342900" indent="-342900">
              <a:buSzPct val="100000"/>
              <a:buChar char="•"/>
            </a:pPr>
            <a:r>
              <a:rPr lang="en-US" sz="1100" dirty="0">
                <a:solidFill>
                  <a:srgbClr val="888888"/>
                </a:solidFill>
                <a:latin typeface="Calibri" pitchFamily="34" charset="0"/>
                <a:ea typeface="Calibri" pitchFamily="34" charset="-122"/>
                <a:cs typeface="Calibri" pitchFamily="34" charset="-120"/>
              </a:rPr>
              <a:t>Christensen, G., &amp; Miguel, E. (2018). "Transparency, Reproducibility, and the Credibility of Economics Research." Journal of Economic Literature, 56(3), 920–980.</a:t>
            </a:r>
            <a:endParaRPr lang="en-US" sz="1100" dirty="0"/>
          </a:p>
        </p:txBody>
      </p:sp>
      <p:sp>
        <p:nvSpPr>
          <p:cNvPr id="6" name="Text 4"/>
          <p:cNvSpPr/>
          <p:nvPr/>
        </p:nvSpPr>
        <p:spPr>
          <a:xfrm>
            <a:off x="640080" y="2377440"/>
            <a:ext cx="8046720" cy="0"/>
          </a:xfrm>
          <a:prstGeom prst="rect">
            <a:avLst/>
          </a:prstGeom>
          <a:noFill/>
          <a:ln/>
        </p:spPr>
        <p:txBody>
          <a:bodyPr wrap="square" rtlCol="0" anchor="ctr"/>
          <a:lstStyle/>
          <a:p>
            <a:pPr algn="l" marL="342900" indent="-342900">
              <a:buSzPct val="100000"/>
              <a:buChar char="•"/>
            </a:pPr>
            <a:r>
              <a:rPr lang="en-US" sz="1100" dirty="0">
                <a:solidFill>
                  <a:srgbClr val="888888"/>
                </a:solidFill>
                <a:latin typeface="Calibri" pitchFamily="34" charset="0"/>
                <a:ea typeface="Calibri" pitchFamily="34" charset="-122"/>
                <a:cs typeface="Calibri" pitchFamily="34" charset="-120"/>
              </a:rPr>
              <a:t>Stodden, V., McNutt, M., &amp; Bailey, D. H. (2016). "Enhancing Reproducibility for Computational Methods." Science, 354(6317), 1240–1241.</a:t>
            </a:r>
            <a:endParaRPr lang="en-US" sz="1100" dirty="0"/>
          </a:p>
        </p:txBody>
      </p:sp>
      <p:sp>
        <p:nvSpPr>
          <p:cNvPr id="7" name="Text 5"/>
          <p:cNvSpPr/>
          <p:nvPr/>
        </p:nvSpPr>
        <p:spPr>
          <a:xfrm>
            <a:off x="640080" y="3063240"/>
            <a:ext cx="8046720" cy="0"/>
          </a:xfrm>
          <a:prstGeom prst="rect">
            <a:avLst/>
          </a:prstGeom>
          <a:noFill/>
          <a:ln/>
        </p:spPr>
        <p:txBody>
          <a:bodyPr wrap="square" rtlCol="0" anchor="ctr"/>
          <a:lstStyle/>
          <a:p>
            <a:pPr algn="l" marL="342900" indent="-342900">
              <a:buSzPct val="100000"/>
              <a:buChar char="•"/>
            </a:pPr>
            <a:r>
              <a:rPr lang="en-US" sz="1100" dirty="0">
                <a:solidFill>
                  <a:srgbClr val="888888"/>
                </a:solidFill>
                <a:latin typeface="Calibri" pitchFamily="34" charset="0"/>
                <a:ea typeface="Calibri" pitchFamily="34" charset="-122"/>
                <a:cs typeface="Calibri" pitchFamily="34" charset="-120"/>
              </a:rPr>
              <a:t>Knuth, D. E. (1992). "Literate Programming." CSLI Lecture Notes, 27.</a:t>
            </a:r>
            <a:endParaRPr lang="en-US" sz="1100" dirty="0"/>
          </a:p>
        </p:txBody>
      </p:sp>
      <p:sp>
        <p:nvSpPr>
          <p:cNvPr id="8" name="Text 6"/>
          <p:cNvSpPr/>
          <p:nvPr/>
        </p:nvSpPr>
        <p:spPr>
          <a:xfrm>
            <a:off x="640080" y="3749040"/>
            <a:ext cx="8046720" cy="0"/>
          </a:xfrm>
          <a:prstGeom prst="rect">
            <a:avLst/>
          </a:prstGeom>
          <a:noFill/>
          <a:ln/>
        </p:spPr>
        <p:txBody>
          <a:bodyPr wrap="square" rtlCol="0" anchor="ctr"/>
          <a:lstStyle/>
          <a:p>
            <a:pPr algn="l" marL="342900" indent="-342900">
              <a:buSzPct val="100000"/>
              <a:buChar char="•"/>
            </a:pPr>
            <a:r>
              <a:rPr lang="en-US" sz="1100" dirty="0">
                <a:solidFill>
                  <a:srgbClr val="888888"/>
                </a:solidFill>
                <a:latin typeface="Calibri" pitchFamily="34" charset="0"/>
                <a:ea typeface="Calibri" pitchFamily="34" charset="-122"/>
                <a:cs typeface="Calibri" pitchFamily="34" charset="-120"/>
              </a:rPr>
              <a:t>Peng, R. D. (2011). "Reproducible Research in Computational Science." Science, 334(6060), 1226–1227.</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2026-03-17T22:23:09Z</dcterms:created>
  <dcterms:modified xsi:type="dcterms:W3CDTF">2026-03-17T22:23:09Z</dcterms:modified>
</cp:coreProperties>
</file>