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1097280"/>
            <a:ext cx="8229600" cy="1097280"/>
          </a:xfrm>
          <a:prstGeom prst="rect">
            <a:avLst/>
          </a:prstGeom>
          <a:noFill/>
          <a:ln/>
        </p:spPr>
        <p:txBody>
          <a:bodyPr wrap="square" rtlCol="0" anchor="t"/>
          <a:lstStyle/>
          <a:p>
            <a:pPr algn="l" indent="0" marL="0">
              <a:buNone/>
            </a:pPr>
            <a:r>
              <a:rPr lang="en-US" sz="3600" dirty="0">
                <a:solidFill>
                  <a:srgbClr val="333333"/>
                </a:solidFill>
                <a:latin typeface="Georgia" pitchFamily="34" charset="0"/>
                <a:ea typeface="Georgia" pitchFamily="34" charset="-122"/>
                <a:cs typeface="Georgia" pitchFamily="34" charset="-120"/>
              </a:rPr>
              <a:t>Surveys, Platforms, and Crowdsourcing</a:t>
            </a:r>
            <a:endParaRPr lang="en-US" sz="3600" dirty="0"/>
          </a:p>
        </p:txBody>
      </p:sp>
      <p:sp>
        <p:nvSpPr>
          <p:cNvPr id="3" name="Text 1"/>
          <p:cNvSpPr/>
          <p:nvPr/>
        </p:nvSpPr>
        <p:spPr>
          <a:xfrm>
            <a:off x="457200" y="2377440"/>
            <a:ext cx="8229600" cy="1097280"/>
          </a:xfrm>
          <a:prstGeom prst="rect">
            <a:avLst/>
          </a:prstGeom>
          <a:noFill/>
          <a:ln/>
        </p:spPr>
        <p:txBody>
          <a:bodyPr wrap="square" rtlCol="0" anchor="t"/>
          <a:lstStyle/>
          <a:p>
            <a:pPr algn="l" indent="0" marL="0">
              <a:buNone/>
            </a:pPr>
            <a:r>
              <a:rPr lang="en-US" sz="1600" i="1" dirty="0">
                <a:solidFill>
                  <a:srgbClr val="666666"/>
                </a:solidFill>
                <a:latin typeface="Calibri" pitchFamily="34" charset="0"/>
                <a:ea typeface="Calibri" pitchFamily="34" charset="-122"/>
                <a:cs typeface="Calibri" pitchFamily="34" charset="-120"/>
              </a:rPr>
              <a:t>How do online surveys and crowdsourced labor reshape data collection, and what quality and representativeness issues arise?</a:t>
            </a:r>
            <a:endParaRPr lang="en-US" sz="1600" dirty="0"/>
          </a:p>
        </p:txBody>
      </p:sp>
      <p:sp>
        <p:nvSpPr>
          <p:cNvPr id="4" name="Shape 2"/>
          <p:cNvSpPr/>
          <p:nvPr/>
        </p:nvSpPr>
        <p:spPr>
          <a:xfrm>
            <a:off x="457200" y="3566160"/>
            <a:ext cx="8229600" cy="0"/>
          </a:xfrm>
          <a:prstGeom prst="line">
            <a:avLst/>
          </a:prstGeom>
          <a:noFill/>
          <a:ln w="12700">
            <a:solidFill>
              <a:srgbClr val="CCCCCC"/>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8229600" cy="365760"/>
          </a:xfrm>
          <a:prstGeom prst="rect">
            <a:avLst/>
          </a:prstGeom>
          <a:noFill/>
          <a:ln/>
        </p:spPr>
        <p:txBody>
          <a:bodyPr wrap="square" rtlCol="0" anchor="ctr"/>
          <a:lstStyle/>
          <a:p>
            <a:pPr indent="0" marL="0">
              <a:buNone/>
            </a:pPr>
            <a:r>
              <a:rPr lang="en-US" sz="2400" b="1" dirty="0">
                <a:solidFill>
                  <a:srgbClr val="333333"/>
                </a:solidFill>
                <a:latin typeface="Georgia" pitchFamily="34" charset="0"/>
                <a:ea typeface="Georgia" pitchFamily="34" charset="-122"/>
                <a:cs typeface="Georgia" pitchFamily="34" charset="-120"/>
              </a:rPr>
              <a:t>Why This Matters</a:t>
            </a:r>
            <a:endParaRPr lang="en-US" sz="2400" dirty="0"/>
          </a:p>
        </p:txBody>
      </p:sp>
      <p:sp>
        <p:nvSpPr>
          <p:cNvPr id="3" name="Shape 1"/>
          <p:cNvSpPr/>
          <p:nvPr/>
        </p:nvSpPr>
        <p:spPr>
          <a:xfrm>
            <a:off x="457200" y="731520"/>
            <a:ext cx="8229600" cy="0"/>
          </a:xfrm>
          <a:prstGeom prst="line">
            <a:avLst/>
          </a:prstGeom>
          <a:noFill/>
          <a:ln w="12700">
            <a:solidFill>
              <a:srgbClr val="CCCCCC"/>
            </a:solidFill>
            <a:prstDash val="solid"/>
          </a:ln>
        </p:spPr>
      </p:sp>
      <p:sp>
        <p:nvSpPr>
          <p:cNvPr id="4" name="Text 2"/>
          <p:cNvSpPr/>
          <p:nvPr/>
        </p:nvSpPr>
        <p:spPr>
          <a:xfrm>
            <a:off x="457200" y="914400"/>
            <a:ext cx="8229600" cy="1828800"/>
          </a:xfrm>
          <a:prstGeom prst="rect">
            <a:avLst/>
          </a:prstGeom>
          <a:noFill/>
          <a:ln/>
        </p:spPr>
        <p:txBody>
          <a:bodyPr wrap="square" rtlCol="0" anchor="t"/>
          <a:lstStyle/>
          <a:p>
            <a:pPr algn="l" indent="0" marL="0">
              <a:buNone/>
            </a:pPr>
            <a:r>
              <a:rPr lang="en-US" sz="1300" dirty="0">
                <a:solidFill>
                  <a:srgbClr val="333333"/>
                </a:solidFill>
                <a:latin typeface="Calibri" pitchFamily="34" charset="0"/>
                <a:ea typeface="Calibri" pitchFamily="34" charset="-122"/>
                <a:cs typeface="Calibri" pitchFamily="34" charset="-120"/>
              </a:rPr>
              <a:t>Online surveys transformed social science. Amazon Mechanical Turk and Prolific enable researchers to recruit subjects in hours rather than months, and at a fraction of traditional survey costs. This speed and scale opened new research frontiers. Berinsky, Huber &amp; Lenz (2012) provide the foundational evaluation: Turk workers are more representative of the U.S. population than typical convenience samples, but less representative than population surveys. The critical insight is that no sampling frame is neutral. You can choose between traditional telephone surveys (aging demographic, low response rates, expensive) or online surveys (younger, self-selected, cheap). The choice trades off representativeness for scale and cost.</a:t>
            </a:r>
            <a:endParaRPr lang="en-US" sz="1300" dirty="0"/>
          </a:p>
        </p:txBody>
      </p:sp>
      <p:sp>
        <p:nvSpPr>
          <p:cNvPr id="5" name="Text 3"/>
          <p:cNvSpPr/>
          <p:nvPr/>
        </p:nvSpPr>
        <p:spPr>
          <a:xfrm>
            <a:off x="457200" y="2926080"/>
            <a:ext cx="8229600" cy="1828800"/>
          </a:xfrm>
          <a:prstGeom prst="rect">
            <a:avLst/>
          </a:prstGeom>
          <a:noFill/>
          <a:ln/>
        </p:spPr>
        <p:txBody>
          <a:bodyPr wrap="square" rtlCol="0" anchor="t"/>
          <a:lstStyle/>
          <a:p>
            <a:pPr algn="l" indent="0" marL="0">
              <a:buNone/>
            </a:pPr>
            <a:r>
              <a:rPr lang="en-US" sz="1300" dirty="0">
                <a:solidFill>
                  <a:srgbClr val="333333"/>
                </a:solidFill>
                <a:latin typeface="Calibri" pitchFamily="34" charset="0"/>
                <a:ea typeface="Calibri" pitchFamily="34" charset="-122"/>
                <a:cs typeface="Calibri" pitchFamily="34" charset="-120"/>
              </a:rPr>
              <a:t>But quality problems are endemic. Workers are professional survey-takers who know what researchers want to hear; they may quickly click through to collect payment, introduce measurement error, and bias findings. Attention checks—inserting obvious questions like "Select strongly agree if you read this"—can catch inattentive workers, but some fraction will slip through. Coppock (2019) shows that survey experiments conducted on Turk generalize reasonably well to population surveys on partisan topics, but generalizability is conditional: treatment effects that work in convenience samples do not always replicate in nationally representative samples. Huff &amp; Tingley (2015) raise a troubling question: "Who are these people?" Turk workers are concentrated in wealthy countries, speak English, are younger, and are more educated than the general population. Studies of Turk effects are studying behavior of a narrow slice of humanity.</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8229600" cy="365760"/>
          </a:xfrm>
          <a:prstGeom prst="rect">
            <a:avLst/>
          </a:prstGeom>
          <a:noFill/>
          <a:ln/>
        </p:spPr>
        <p:txBody>
          <a:bodyPr wrap="square" rtlCol="0" anchor="ctr"/>
          <a:lstStyle/>
          <a:p>
            <a:pPr indent="0" marL="0">
              <a:buNone/>
            </a:pPr>
            <a:r>
              <a:rPr lang="en-US" sz="2400" b="1" dirty="0">
                <a:solidFill>
                  <a:srgbClr val="333333"/>
                </a:solidFill>
                <a:latin typeface="Georgia" pitchFamily="34" charset="0"/>
                <a:ea typeface="Georgia" pitchFamily="34" charset="-122"/>
                <a:cs typeface="Georgia" pitchFamily="34" charset="-120"/>
              </a:rPr>
              <a:t>Why This Matters</a:t>
            </a:r>
            <a:endParaRPr lang="en-US" sz="2400" dirty="0"/>
          </a:p>
        </p:txBody>
      </p:sp>
      <p:sp>
        <p:nvSpPr>
          <p:cNvPr id="3" name="Shape 1"/>
          <p:cNvSpPr/>
          <p:nvPr/>
        </p:nvSpPr>
        <p:spPr>
          <a:xfrm>
            <a:off x="457200" y="731520"/>
            <a:ext cx="8229600" cy="0"/>
          </a:xfrm>
          <a:prstGeom prst="line">
            <a:avLst/>
          </a:prstGeom>
          <a:noFill/>
          <a:ln w="12700">
            <a:solidFill>
              <a:srgbClr val="CCCCCC"/>
            </a:solidFill>
            <a:prstDash val="solid"/>
          </a:ln>
        </p:spPr>
      </p:sp>
      <p:sp>
        <p:nvSpPr>
          <p:cNvPr id="4" name="Text 2"/>
          <p:cNvSpPr/>
          <p:nvPr/>
        </p:nvSpPr>
        <p:spPr>
          <a:xfrm>
            <a:off x="457200" y="914400"/>
            <a:ext cx="8229600" cy="3657600"/>
          </a:xfrm>
          <a:prstGeom prst="rect">
            <a:avLst/>
          </a:prstGeom>
          <a:noFill/>
          <a:ln/>
        </p:spPr>
        <p:txBody>
          <a:bodyPr wrap="square" rtlCol="0" anchor="t"/>
          <a:lstStyle/>
          <a:p>
            <a:pPr algn="l" indent="0" marL="0">
              <a:buNone/>
            </a:pPr>
            <a:r>
              <a:rPr lang="en-US" sz="1300" dirty="0">
                <a:solidFill>
                  <a:srgbClr val="333333"/>
                </a:solidFill>
                <a:latin typeface="Calibri" pitchFamily="34" charset="0"/>
                <a:ea typeface="Calibri" pitchFamily="34" charset="-122"/>
                <a:cs typeface="Calibri" pitchFamily="34" charset="-120"/>
              </a:rPr>
              <a:t>The frontier is honesty about limitations. Report sample characteristics. Validate findings across multiple samples. Use stratification or weighting to approach population representativeness. Acknowledge that no single sample is perfect; different samples answer different questions. The future may lie in hybrid approaches: online surveys for scale and cost, alongside targeted population surveys for representativeness.</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8229600" cy="365760"/>
          </a:xfrm>
          <a:prstGeom prst="rect">
            <a:avLst/>
          </a:prstGeom>
          <a:noFill/>
          <a:ln/>
        </p:spPr>
        <p:txBody>
          <a:bodyPr wrap="square" rtlCol="0" anchor="ctr"/>
          <a:lstStyle/>
          <a:p>
            <a:pPr indent="0" marL="0">
              <a:buNone/>
            </a:pPr>
            <a:r>
              <a:rPr lang="en-US" sz="2400" b="1" dirty="0">
                <a:solidFill>
                  <a:srgbClr val="333333"/>
                </a:solidFill>
                <a:latin typeface="Georgia" pitchFamily="34" charset="0"/>
                <a:ea typeface="Georgia" pitchFamily="34" charset="-122"/>
                <a:cs typeface="Georgia" pitchFamily="34" charset="-120"/>
              </a:rPr>
              <a:t>Key Concepts &amp; Methods</a:t>
            </a:r>
            <a:endParaRPr lang="en-US" sz="2400" dirty="0"/>
          </a:p>
        </p:txBody>
      </p:sp>
      <p:sp>
        <p:nvSpPr>
          <p:cNvPr id="3" name="Shape 1"/>
          <p:cNvSpPr/>
          <p:nvPr/>
        </p:nvSpPr>
        <p:spPr>
          <a:xfrm>
            <a:off x="457200" y="731520"/>
            <a:ext cx="8229600" cy="0"/>
          </a:xfrm>
          <a:prstGeom prst="line">
            <a:avLst/>
          </a:prstGeom>
          <a:noFill/>
          <a:ln w="12700">
            <a:solidFill>
              <a:srgbClr val="CCCCCC"/>
            </a:solidFill>
            <a:prstDash val="solid"/>
          </a:ln>
        </p:spPr>
      </p:sp>
      <p:sp>
        <p:nvSpPr>
          <p:cNvPr id="4" name="Text 2"/>
          <p:cNvSpPr/>
          <p:nvPr/>
        </p:nvSpPr>
        <p:spPr>
          <a:xfrm>
            <a:off x="640080" y="1005840"/>
            <a:ext cx="2103120" cy="320040"/>
          </a:xfrm>
          <a:prstGeom prst="rect">
            <a:avLst/>
          </a:prstGeom>
          <a:noFill/>
          <a:ln/>
        </p:spPr>
        <p:txBody>
          <a:bodyPr wrap="square" rtlCol="0" anchor="ctr"/>
          <a:lstStyle/>
          <a:p>
            <a:pPr algn="l" indent="0" marL="0">
              <a:buNone/>
            </a:pPr>
            <a:r>
              <a:rPr lang="en-US" sz="1300" b="1" dirty="0">
                <a:solidFill>
                  <a:srgbClr val="333333"/>
                </a:solidFill>
                <a:latin typeface="Calibri" pitchFamily="34" charset="0"/>
                <a:ea typeface="Calibri" pitchFamily="34" charset="-122"/>
                <a:cs typeface="Calibri" pitchFamily="34" charset="-120"/>
              </a:rPr>
              <a:t>Crowdsourcing Platform</a:t>
            </a:r>
            <a:endParaRPr lang="en-US" sz="1300" dirty="0"/>
          </a:p>
        </p:txBody>
      </p:sp>
      <p:sp>
        <p:nvSpPr>
          <p:cNvPr id="5" name="Text 3"/>
          <p:cNvSpPr/>
          <p:nvPr/>
        </p:nvSpPr>
        <p:spPr>
          <a:xfrm>
            <a:off x="2926080" y="1005840"/>
            <a:ext cx="5760720" cy="320040"/>
          </a:xfrm>
          <a:prstGeom prst="rect">
            <a:avLst/>
          </a:prstGeom>
          <a:noFill/>
          <a:ln/>
        </p:spPr>
        <p:txBody>
          <a:bodyPr wrap="square" rtlCol="0" anchor="ctr"/>
          <a:lstStyle/>
          <a:p>
            <a:pPr algn="l" indent="0" marL="0">
              <a:buNone/>
            </a:pPr>
            <a:r>
              <a:rPr lang="en-US" sz="1300" dirty="0">
                <a:solidFill>
                  <a:srgbClr val="333333"/>
                </a:solidFill>
                <a:latin typeface="Calibri" pitchFamily="34" charset="0"/>
                <a:ea typeface="Calibri" pitchFamily="34" charset="-122"/>
                <a:cs typeface="Calibri" pitchFamily="34" charset="-120"/>
              </a:rPr>
              <a:t>Market for online microtasks (Amazon Turk, Prolific); low cost, high speed, but sample concerns.</a:t>
            </a:r>
            <a:endParaRPr lang="en-US" sz="1300" dirty="0"/>
          </a:p>
        </p:txBody>
      </p:sp>
      <p:sp>
        <p:nvSpPr>
          <p:cNvPr id="6" name="Text 4"/>
          <p:cNvSpPr/>
          <p:nvPr/>
        </p:nvSpPr>
        <p:spPr>
          <a:xfrm>
            <a:off x="640080" y="1600200"/>
            <a:ext cx="2103120" cy="320040"/>
          </a:xfrm>
          <a:prstGeom prst="rect">
            <a:avLst/>
          </a:prstGeom>
          <a:noFill/>
          <a:ln/>
        </p:spPr>
        <p:txBody>
          <a:bodyPr wrap="square" rtlCol="0" anchor="ctr"/>
          <a:lstStyle/>
          <a:p>
            <a:pPr algn="l" indent="0" marL="0">
              <a:buNone/>
            </a:pPr>
            <a:r>
              <a:rPr lang="en-US" sz="1300" b="1" dirty="0">
                <a:solidFill>
                  <a:srgbClr val="333333"/>
                </a:solidFill>
                <a:latin typeface="Calibri" pitchFamily="34" charset="0"/>
                <a:ea typeface="Calibri" pitchFamily="34" charset="-122"/>
                <a:cs typeface="Calibri" pitchFamily="34" charset="-120"/>
              </a:rPr>
              <a:t>Attention Check</a:t>
            </a:r>
            <a:endParaRPr lang="en-US" sz="1300" dirty="0"/>
          </a:p>
        </p:txBody>
      </p:sp>
      <p:sp>
        <p:nvSpPr>
          <p:cNvPr id="7" name="Text 5"/>
          <p:cNvSpPr/>
          <p:nvPr/>
        </p:nvSpPr>
        <p:spPr>
          <a:xfrm>
            <a:off x="2926080" y="1600200"/>
            <a:ext cx="5760720" cy="320040"/>
          </a:xfrm>
          <a:prstGeom prst="rect">
            <a:avLst/>
          </a:prstGeom>
          <a:noFill/>
          <a:ln/>
        </p:spPr>
        <p:txBody>
          <a:bodyPr wrap="square" rtlCol="0" anchor="ctr"/>
          <a:lstStyle/>
          <a:p>
            <a:pPr algn="l" indent="0" marL="0">
              <a:buNone/>
            </a:pPr>
            <a:r>
              <a:rPr lang="en-US" sz="1300" dirty="0">
                <a:solidFill>
                  <a:srgbClr val="333333"/>
                </a:solidFill>
                <a:latin typeface="Calibri" pitchFamily="34" charset="0"/>
                <a:ea typeface="Calibri" pitchFamily="34" charset="-122"/>
                <a:cs typeface="Calibri" pitchFamily="34" charset="-120"/>
              </a:rPr>
              <a:t>Obvious question inserted to identify inattentive respondents (e.g., "Select strongly agree").</a:t>
            </a:r>
            <a:endParaRPr lang="en-US" sz="1300" dirty="0"/>
          </a:p>
        </p:txBody>
      </p:sp>
      <p:sp>
        <p:nvSpPr>
          <p:cNvPr id="8" name="Text 6"/>
          <p:cNvSpPr/>
          <p:nvPr/>
        </p:nvSpPr>
        <p:spPr>
          <a:xfrm>
            <a:off x="640080" y="2194560"/>
            <a:ext cx="2103120" cy="320040"/>
          </a:xfrm>
          <a:prstGeom prst="rect">
            <a:avLst/>
          </a:prstGeom>
          <a:noFill/>
          <a:ln/>
        </p:spPr>
        <p:txBody>
          <a:bodyPr wrap="square" rtlCol="0" anchor="ctr"/>
          <a:lstStyle/>
          <a:p>
            <a:pPr algn="l" indent="0" marL="0">
              <a:buNone/>
            </a:pPr>
            <a:r>
              <a:rPr lang="en-US" sz="1300" b="1" dirty="0">
                <a:solidFill>
                  <a:srgbClr val="333333"/>
                </a:solidFill>
                <a:latin typeface="Calibri" pitchFamily="34" charset="0"/>
                <a:ea typeface="Calibri" pitchFamily="34" charset="-122"/>
                <a:cs typeface="Calibri" pitchFamily="34" charset="-120"/>
              </a:rPr>
              <a:t>Generalizability</a:t>
            </a:r>
            <a:endParaRPr lang="en-US" sz="1300" dirty="0"/>
          </a:p>
        </p:txBody>
      </p:sp>
      <p:sp>
        <p:nvSpPr>
          <p:cNvPr id="9" name="Text 7"/>
          <p:cNvSpPr/>
          <p:nvPr/>
        </p:nvSpPr>
        <p:spPr>
          <a:xfrm>
            <a:off x="2926080" y="2194560"/>
            <a:ext cx="5760720" cy="320040"/>
          </a:xfrm>
          <a:prstGeom prst="rect">
            <a:avLst/>
          </a:prstGeom>
          <a:noFill/>
          <a:ln/>
        </p:spPr>
        <p:txBody>
          <a:bodyPr wrap="square" rtlCol="0" anchor="ctr"/>
          <a:lstStyle/>
          <a:p>
            <a:pPr algn="l" indent="0" marL="0">
              <a:buNone/>
            </a:pPr>
            <a:r>
              <a:rPr lang="en-US" sz="1300" dirty="0">
                <a:solidFill>
                  <a:srgbClr val="333333"/>
                </a:solidFill>
                <a:latin typeface="Calibri" pitchFamily="34" charset="0"/>
                <a:ea typeface="Calibri" pitchFamily="34" charset="-122"/>
                <a:cs typeface="Calibri" pitchFamily="34" charset="-120"/>
              </a:rPr>
              <a:t>Whether treatment effects or relationships observed in sample generalize to target population.</a:t>
            </a:r>
            <a:endParaRPr lang="en-US" sz="1300" dirty="0"/>
          </a:p>
        </p:txBody>
      </p:sp>
      <p:sp>
        <p:nvSpPr>
          <p:cNvPr id="10" name="Text 8"/>
          <p:cNvSpPr/>
          <p:nvPr/>
        </p:nvSpPr>
        <p:spPr>
          <a:xfrm>
            <a:off x="640080" y="2788920"/>
            <a:ext cx="2103120" cy="320040"/>
          </a:xfrm>
          <a:prstGeom prst="rect">
            <a:avLst/>
          </a:prstGeom>
          <a:noFill/>
          <a:ln/>
        </p:spPr>
        <p:txBody>
          <a:bodyPr wrap="square" rtlCol="0" anchor="ctr"/>
          <a:lstStyle/>
          <a:p>
            <a:pPr algn="l" indent="0" marL="0">
              <a:buNone/>
            </a:pPr>
            <a:r>
              <a:rPr lang="en-US" sz="1300" b="1" dirty="0">
                <a:solidFill>
                  <a:srgbClr val="333333"/>
                </a:solidFill>
                <a:latin typeface="Calibri" pitchFamily="34" charset="0"/>
                <a:ea typeface="Calibri" pitchFamily="34" charset="-122"/>
                <a:cs typeface="Calibri" pitchFamily="34" charset="-120"/>
              </a:rPr>
              <a:t>Sample Representativeness</a:t>
            </a:r>
            <a:endParaRPr lang="en-US" sz="1300" dirty="0"/>
          </a:p>
        </p:txBody>
      </p:sp>
      <p:sp>
        <p:nvSpPr>
          <p:cNvPr id="11" name="Text 9"/>
          <p:cNvSpPr/>
          <p:nvPr/>
        </p:nvSpPr>
        <p:spPr>
          <a:xfrm>
            <a:off x="2926080" y="2788920"/>
            <a:ext cx="5760720" cy="320040"/>
          </a:xfrm>
          <a:prstGeom prst="rect">
            <a:avLst/>
          </a:prstGeom>
          <a:noFill/>
          <a:ln/>
        </p:spPr>
        <p:txBody>
          <a:bodyPr wrap="square" rtlCol="0" anchor="ctr"/>
          <a:lstStyle/>
          <a:p>
            <a:pPr algn="l" indent="0" marL="0">
              <a:buNone/>
            </a:pPr>
            <a:r>
              <a:rPr lang="en-US" sz="1300" dirty="0">
                <a:solidFill>
                  <a:srgbClr val="333333"/>
                </a:solidFill>
                <a:latin typeface="Calibri" pitchFamily="34" charset="0"/>
                <a:ea typeface="Calibri" pitchFamily="34" charset="-122"/>
                <a:cs typeface="Calibri" pitchFamily="34" charset="-120"/>
              </a:rPr>
              <a:t>Degree to which sample matches target population on relevant characteristics.</a:t>
            </a:r>
            <a:endParaRPr lang="en-US" sz="1300" dirty="0"/>
          </a:p>
        </p:txBody>
      </p:sp>
      <p:sp>
        <p:nvSpPr>
          <p:cNvPr id="12" name="Text 10"/>
          <p:cNvSpPr/>
          <p:nvPr/>
        </p:nvSpPr>
        <p:spPr>
          <a:xfrm>
            <a:off x="640080" y="3383280"/>
            <a:ext cx="2103120" cy="320040"/>
          </a:xfrm>
          <a:prstGeom prst="rect">
            <a:avLst/>
          </a:prstGeom>
          <a:noFill/>
          <a:ln/>
        </p:spPr>
        <p:txBody>
          <a:bodyPr wrap="square" rtlCol="0" anchor="ctr"/>
          <a:lstStyle/>
          <a:p>
            <a:pPr algn="l" indent="0" marL="0">
              <a:buNone/>
            </a:pPr>
            <a:r>
              <a:rPr lang="en-US" sz="1300" b="1" dirty="0">
                <a:solidFill>
                  <a:srgbClr val="333333"/>
                </a:solidFill>
                <a:latin typeface="Calibri" pitchFamily="34" charset="0"/>
                <a:ea typeface="Calibri" pitchFamily="34" charset="-122"/>
                <a:cs typeface="Calibri" pitchFamily="34" charset="-120"/>
              </a:rPr>
              <a:t>Self-Selection Bias</a:t>
            </a:r>
            <a:endParaRPr lang="en-US" sz="1300" dirty="0"/>
          </a:p>
        </p:txBody>
      </p:sp>
      <p:sp>
        <p:nvSpPr>
          <p:cNvPr id="13" name="Text 11"/>
          <p:cNvSpPr/>
          <p:nvPr/>
        </p:nvSpPr>
        <p:spPr>
          <a:xfrm>
            <a:off x="2926080" y="3383280"/>
            <a:ext cx="5760720" cy="320040"/>
          </a:xfrm>
          <a:prstGeom prst="rect">
            <a:avLst/>
          </a:prstGeom>
          <a:noFill/>
          <a:ln/>
        </p:spPr>
        <p:txBody>
          <a:bodyPr wrap="square" rtlCol="0" anchor="ctr"/>
          <a:lstStyle/>
          <a:p>
            <a:pPr algn="l" indent="0" marL="0">
              <a:buNone/>
            </a:pPr>
            <a:r>
              <a:rPr lang="en-US" sz="1300" dirty="0">
                <a:solidFill>
                  <a:srgbClr val="333333"/>
                </a:solidFill>
                <a:latin typeface="Calibri" pitchFamily="34" charset="0"/>
                <a:ea typeface="Calibri" pitchFamily="34" charset="-122"/>
                <a:cs typeface="Calibri" pitchFamily="34" charset="-120"/>
              </a:rPr>
              <a:t>Systematic differences between those who take a survey and those who do not.</a:t>
            </a:r>
            <a:endParaRPr lang="en-US" sz="1300" dirty="0"/>
          </a:p>
        </p:txBody>
      </p:sp>
      <p:sp>
        <p:nvSpPr>
          <p:cNvPr id="14" name="Text 12"/>
          <p:cNvSpPr/>
          <p:nvPr/>
        </p:nvSpPr>
        <p:spPr>
          <a:xfrm>
            <a:off x="640080" y="3977640"/>
            <a:ext cx="2103120" cy="320040"/>
          </a:xfrm>
          <a:prstGeom prst="rect">
            <a:avLst/>
          </a:prstGeom>
          <a:noFill/>
          <a:ln/>
        </p:spPr>
        <p:txBody>
          <a:bodyPr wrap="square" rtlCol="0" anchor="ctr"/>
          <a:lstStyle/>
          <a:p>
            <a:pPr algn="l" indent="0" marL="0">
              <a:buNone/>
            </a:pPr>
            <a:r>
              <a:rPr lang="en-US" sz="1300" b="1" dirty="0">
                <a:solidFill>
                  <a:srgbClr val="333333"/>
                </a:solidFill>
                <a:latin typeface="Calibri" pitchFamily="34" charset="0"/>
                <a:ea typeface="Calibri" pitchFamily="34" charset="-122"/>
                <a:cs typeface="Calibri" pitchFamily="34" charset="-120"/>
              </a:rPr>
              <a:t>Replication</a:t>
            </a:r>
            <a:endParaRPr lang="en-US" sz="1300" dirty="0"/>
          </a:p>
        </p:txBody>
      </p:sp>
      <p:sp>
        <p:nvSpPr>
          <p:cNvPr id="15" name="Text 13"/>
          <p:cNvSpPr/>
          <p:nvPr/>
        </p:nvSpPr>
        <p:spPr>
          <a:xfrm>
            <a:off x="2926080" y="3977640"/>
            <a:ext cx="5760720" cy="320040"/>
          </a:xfrm>
          <a:prstGeom prst="rect">
            <a:avLst/>
          </a:prstGeom>
          <a:noFill/>
          <a:ln/>
        </p:spPr>
        <p:txBody>
          <a:bodyPr wrap="square" rtlCol="0" anchor="ctr"/>
          <a:lstStyle/>
          <a:p>
            <a:pPr algn="l" indent="0" marL="0">
              <a:buNone/>
            </a:pPr>
            <a:r>
              <a:rPr lang="en-US" sz="1300" dirty="0">
                <a:solidFill>
                  <a:srgbClr val="333333"/>
                </a:solidFill>
                <a:latin typeface="Calibri" pitchFamily="34" charset="0"/>
                <a:ea typeface="Calibri" pitchFamily="34" charset="-122"/>
                <a:cs typeface="Calibri" pitchFamily="34" charset="-120"/>
              </a:rPr>
              <a:t>Repeating a study with different sample to assess whether findings hold.</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8229600" cy="365760"/>
          </a:xfrm>
          <a:prstGeom prst="rect">
            <a:avLst/>
          </a:prstGeom>
          <a:noFill/>
          <a:ln/>
        </p:spPr>
        <p:txBody>
          <a:bodyPr wrap="square" rtlCol="0" anchor="ctr"/>
          <a:lstStyle/>
          <a:p>
            <a:pPr indent="0" marL="0">
              <a:buNone/>
            </a:pPr>
            <a:r>
              <a:rPr lang="en-US" sz="2400" b="1" dirty="0">
                <a:solidFill>
                  <a:srgbClr val="333333"/>
                </a:solidFill>
                <a:latin typeface="Georgia" pitchFamily="34" charset="0"/>
                <a:ea typeface="Georgia" pitchFamily="34" charset="-122"/>
                <a:cs typeface="Georgia" pitchFamily="34" charset="-120"/>
              </a:rPr>
              <a:t>Discussion Questions</a:t>
            </a:r>
            <a:endParaRPr lang="en-US" sz="2400" dirty="0"/>
          </a:p>
        </p:txBody>
      </p:sp>
      <p:sp>
        <p:nvSpPr>
          <p:cNvPr id="3" name="Shape 1"/>
          <p:cNvSpPr/>
          <p:nvPr/>
        </p:nvSpPr>
        <p:spPr>
          <a:xfrm>
            <a:off x="457200" y="731520"/>
            <a:ext cx="8229600" cy="0"/>
          </a:xfrm>
          <a:prstGeom prst="line">
            <a:avLst/>
          </a:prstGeom>
          <a:noFill/>
          <a:ln w="12700">
            <a:solidFill>
              <a:srgbClr val="CCCCCC"/>
            </a:solidFill>
            <a:prstDash val="solid"/>
          </a:ln>
        </p:spPr>
      </p:sp>
      <p:sp>
        <p:nvSpPr>
          <p:cNvPr id="4" name="Text 2"/>
          <p:cNvSpPr/>
          <p:nvPr/>
        </p:nvSpPr>
        <p:spPr>
          <a:xfrm>
            <a:off x="640080" y="1005840"/>
            <a:ext cx="8046720" cy="0"/>
          </a:xfrm>
          <a:prstGeom prst="rect">
            <a:avLst/>
          </a:prstGeom>
          <a:noFill/>
          <a:ln/>
        </p:spPr>
        <p:txBody>
          <a:bodyPr wrap="square" rtlCol="0" anchor="ctr"/>
          <a:lstStyle/>
          <a:p>
            <a:pPr algn="l" marL="342900" indent="-342900">
              <a:buSzPct val="100000"/>
              <a:buChar char="•"/>
            </a:pPr>
            <a:r>
              <a:rPr lang="en-US" sz="1400" dirty="0">
                <a:solidFill>
                  <a:srgbClr val="333333"/>
                </a:solidFill>
                <a:latin typeface="Calibri" pitchFamily="34" charset="0"/>
                <a:ea typeface="Calibri" pitchFamily="34" charset="-122"/>
                <a:cs typeface="Calibri" pitchFamily="34" charset="-120"/>
              </a:rPr>
              <a:t>Berinsky, Huber &amp; Lenz evaluate Turk workers. They are more representative than convenience samples but less than population surveys. When would Turk suffice, and when would you need population surveys?</a:t>
            </a:r>
            <a:endParaRPr lang="en-US" sz="1400" dirty="0"/>
          </a:p>
        </p:txBody>
      </p:sp>
      <p:sp>
        <p:nvSpPr>
          <p:cNvPr id="5" name="Text 3"/>
          <p:cNvSpPr/>
          <p:nvPr/>
        </p:nvSpPr>
        <p:spPr>
          <a:xfrm>
            <a:off x="640080" y="2011680"/>
            <a:ext cx="8046720" cy="0"/>
          </a:xfrm>
          <a:prstGeom prst="rect">
            <a:avLst/>
          </a:prstGeom>
          <a:noFill/>
          <a:ln/>
        </p:spPr>
        <p:txBody>
          <a:bodyPr wrap="square" rtlCol="0" anchor="ctr"/>
          <a:lstStyle/>
          <a:p>
            <a:pPr algn="l" marL="342900" indent="-342900">
              <a:buSzPct val="100000"/>
              <a:buChar char="•"/>
            </a:pPr>
            <a:r>
              <a:rPr lang="en-US" sz="1400" dirty="0">
                <a:solidFill>
                  <a:srgbClr val="333333"/>
                </a:solidFill>
                <a:latin typeface="Calibri" pitchFamily="34" charset="0"/>
                <a:ea typeface="Calibri" pitchFamily="34" charset="-122"/>
                <a:cs typeface="Calibri" pitchFamily="34" charset="-120"/>
              </a:rPr>
              <a:t>Coppock shows that survey experiments sometimes generalize from Turk to population surveys, sometimes not. What determines generalizability? How would you design studies to test whether effects generalize?</a:t>
            </a:r>
            <a:endParaRPr lang="en-US" sz="1400" dirty="0"/>
          </a:p>
        </p:txBody>
      </p:sp>
      <p:sp>
        <p:nvSpPr>
          <p:cNvPr id="6" name="Text 4"/>
          <p:cNvSpPr/>
          <p:nvPr/>
        </p:nvSpPr>
        <p:spPr>
          <a:xfrm>
            <a:off x="640080" y="3017520"/>
            <a:ext cx="8046720" cy="0"/>
          </a:xfrm>
          <a:prstGeom prst="rect">
            <a:avLst/>
          </a:prstGeom>
          <a:noFill/>
          <a:ln/>
        </p:spPr>
        <p:txBody>
          <a:bodyPr wrap="square" rtlCol="0" anchor="ctr"/>
          <a:lstStyle/>
          <a:p>
            <a:pPr algn="l" marL="342900" indent="-342900">
              <a:buSzPct val="100000"/>
              <a:buChar char="•"/>
            </a:pPr>
            <a:r>
              <a:rPr lang="en-US" sz="1400" dirty="0">
                <a:solidFill>
                  <a:srgbClr val="333333"/>
                </a:solidFill>
                <a:latin typeface="Calibri" pitchFamily="34" charset="0"/>
                <a:ea typeface="Calibri" pitchFamily="34" charset="-122"/>
                <a:cs typeface="Calibri" pitchFamily="34" charset="-120"/>
              </a:rPr>
              <a:t>Huff &amp; Tingley ask "Who are these people?" Turk workers differ from the general population on many dimensions. How would you assess whether these differences bias your findings?</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8229600" cy="365760"/>
          </a:xfrm>
          <a:prstGeom prst="rect">
            <a:avLst/>
          </a:prstGeom>
          <a:noFill/>
          <a:ln/>
        </p:spPr>
        <p:txBody>
          <a:bodyPr wrap="square" rtlCol="0" anchor="ctr"/>
          <a:lstStyle/>
          <a:p>
            <a:pPr indent="0" marL="0">
              <a:buNone/>
            </a:pPr>
            <a:r>
              <a:rPr lang="en-US" sz="2400" b="1" dirty="0">
                <a:solidFill>
                  <a:srgbClr val="333333"/>
                </a:solidFill>
                <a:latin typeface="Georgia" pitchFamily="34" charset="0"/>
                <a:ea typeface="Georgia" pitchFamily="34" charset="-122"/>
                <a:cs typeface="Georgia" pitchFamily="34" charset="-120"/>
              </a:rPr>
              <a:t>Recommended Reading</a:t>
            </a:r>
            <a:endParaRPr lang="en-US" sz="2400" dirty="0"/>
          </a:p>
        </p:txBody>
      </p:sp>
      <p:sp>
        <p:nvSpPr>
          <p:cNvPr id="3" name="Shape 1"/>
          <p:cNvSpPr/>
          <p:nvPr/>
        </p:nvSpPr>
        <p:spPr>
          <a:xfrm>
            <a:off x="457200" y="731520"/>
            <a:ext cx="8229600" cy="0"/>
          </a:xfrm>
          <a:prstGeom prst="line">
            <a:avLst/>
          </a:prstGeom>
          <a:noFill/>
          <a:ln w="12700">
            <a:solidFill>
              <a:srgbClr val="CCCCCC"/>
            </a:solidFill>
            <a:prstDash val="solid"/>
          </a:ln>
        </p:spPr>
      </p:sp>
      <p:sp>
        <p:nvSpPr>
          <p:cNvPr id="4" name="Text 2"/>
          <p:cNvSpPr/>
          <p:nvPr/>
        </p:nvSpPr>
        <p:spPr>
          <a:xfrm>
            <a:off x="640080" y="1005840"/>
            <a:ext cx="8046720" cy="0"/>
          </a:xfrm>
          <a:prstGeom prst="rect">
            <a:avLst/>
          </a:prstGeom>
          <a:noFill/>
          <a:ln/>
        </p:spPr>
        <p:txBody>
          <a:bodyPr wrap="square" rtlCol="0" anchor="ctr"/>
          <a:lstStyle/>
          <a:p>
            <a:pPr algn="l" marL="342900" indent="-342900">
              <a:buSzPct val="100000"/>
              <a:buChar char="•"/>
            </a:pPr>
            <a:r>
              <a:rPr lang="en-US" sz="1100" dirty="0">
                <a:solidFill>
                  <a:srgbClr val="888888"/>
                </a:solidFill>
                <a:latin typeface="Calibri" pitchFamily="34" charset="0"/>
                <a:ea typeface="Calibri" pitchFamily="34" charset="-122"/>
                <a:cs typeface="Calibri" pitchFamily="34" charset="-120"/>
              </a:rPr>
              <a:t>Berinsky, A. J., Huber, G. A., &amp; Lenz, G. S. (2012). "Evaluating Online Labor Markets for Experimental Research: The Case of Amazon Mechanical Turk." Political Analysis, 20(3), 351–368.</a:t>
            </a:r>
            <a:endParaRPr lang="en-US" sz="1100" dirty="0"/>
          </a:p>
        </p:txBody>
      </p:sp>
      <p:sp>
        <p:nvSpPr>
          <p:cNvPr id="5" name="Text 3"/>
          <p:cNvSpPr/>
          <p:nvPr/>
        </p:nvSpPr>
        <p:spPr>
          <a:xfrm>
            <a:off x="640080" y="1691640"/>
            <a:ext cx="8046720" cy="0"/>
          </a:xfrm>
          <a:prstGeom prst="rect">
            <a:avLst/>
          </a:prstGeom>
          <a:noFill/>
          <a:ln/>
        </p:spPr>
        <p:txBody>
          <a:bodyPr wrap="square" rtlCol="0" anchor="ctr"/>
          <a:lstStyle/>
          <a:p>
            <a:pPr algn="l" marL="342900" indent="-342900">
              <a:buSzPct val="100000"/>
              <a:buChar char="•"/>
            </a:pPr>
            <a:r>
              <a:rPr lang="en-US" sz="1100" dirty="0">
                <a:solidFill>
                  <a:srgbClr val="888888"/>
                </a:solidFill>
                <a:latin typeface="Calibri" pitchFamily="34" charset="0"/>
                <a:ea typeface="Calibri" pitchFamily="34" charset="-122"/>
                <a:cs typeface="Calibri" pitchFamily="34" charset="-120"/>
              </a:rPr>
              <a:t>Coppock, A. (2019). "Generalize Experiments to Populations of Interest: A Methodological Review." Journal of Politics, 81(3), 1072–1089.</a:t>
            </a:r>
            <a:endParaRPr lang="en-US" sz="1100" dirty="0"/>
          </a:p>
        </p:txBody>
      </p:sp>
      <p:sp>
        <p:nvSpPr>
          <p:cNvPr id="6" name="Text 4"/>
          <p:cNvSpPr/>
          <p:nvPr/>
        </p:nvSpPr>
        <p:spPr>
          <a:xfrm>
            <a:off x="640080" y="2377440"/>
            <a:ext cx="8046720" cy="0"/>
          </a:xfrm>
          <a:prstGeom prst="rect">
            <a:avLst/>
          </a:prstGeom>
          <a:noFill/>
          <a:ln/>
        </p:spPr>
        <p:txBody>
          <a:bodyPr wrap="square" rtlCol="0" anchor="ctr"/>
          <a:lstStyle/>
          <a:p>
            <a:pPr algn="l" marL="342900" indent="-342900">
              <a:buSzPct val="100000"/>
              <a:buChar char="•"/>
            </a:pPr>
            <a:r>
              <a:rPr lang="en-US" sz="1100" dirty="0">
                <a:solidFill>
                  <a:srgbClr val="888888"/>
                </a:solidFill>
                <a:latin typeface="Calibri" pitchFamily="34" charset="0"/>
                <a:ea typeface="Calibri" pitchFamily="34" charset="-122"/>
                <a:cs typeface="Calibri" pitchFamily="34" charset="-120"/>
              </a:rPr>
              <a:t>Huff, C., &amp; Tingley, D. (2015). "'Who are these People?' Evaluating the Demographic Characteristics and Political Preferences of MTurk Survey Respondents." Research &amp; Politics, 2(3), 1–12.</a:t>
            </a:r>
            <a:endParaRPr lang="en-US" sz="1100" dirty="0"/>
          </a:p>
        </p:txBody>
      </p:sp>
      <p:sp>
        <p:nvSpPr>
          <p:cNvPr id="7" name="Text 5"/>
          <p:cNvSpPr/>
          <p:nvPr/>
        </p:nvSpPr>
        <p:spPr>
          <a:xfrm>
            <a:off x="640080" y="3063240"/>
            <a:ext cx="8046720" cy="0"/>
          </a:xfrm>
          <a:prstGeom prst="rect">
            <a:avLst/>
          </a:prstGeom>
          <a:noFill/>
          <a:ln/>
        </p:spPr>
        <p:txBody>
          <a:bodyPr wrap="square" rtlCol="0" anchor="ctr"/>
          <a:lstStyle/>
          <a:p>
            <a:pPr algn="l" marL="342900" indent="-342900">
              <a:buSzPct val="100000"/>
              <a:buChar char="•"/>
            </a:pPr>
            <a:r>
              <a:rPr lang="en-US" sz="1100" dirty="0">
                <a:solidFill>
                  <a:srgbClr val="888888"/>
                </a:solidFill>
                <a:latin typeface="Calibri" pitchFamily="34" charset="0"/>
                <a:ea typeface="Calibri" pitchFamily="34" charset="-122"/>
                <a:cs typeface="Calibri" pitchFamily="34" charset="-120"/>
              </a:rPr>
              <a:t>Horton, J. J., Rand, D. G., &amp; Zeckhauser, R. J. (2011). "The Online Laboratory: Conducting Experiments in a Real Labor Market." Experimental Economics, 14(3), 399–425.</a:t>
            </a:r>
            <a:endParaRPr lang="en-US" sz="1100" dirty="0"/>
          </a:p>
        </p:txBody>
      </p:sp>
      <p:sp>
        <p:nvSpPr>
          <p:cNvPr id="8" name="Text 6"/>
          <p:cNvSpPr/>
          <p:nvPr/>
        </p:nvSpPr>
        <p:spPr>
          <a:xfrm>
            <a:off x="640080" y="3749040"/>
            <a:ext cx="8046720" cy="0"/>
          </a:xfrm>
          <a:prstGeom prst="rect">
            <a:avLst/>
          </a:prstGeom>
          <a:noFill/>
          <a:ln/>
        </p:spPr>
        <p:txBody>
          <a:bodyPr wrap="square" rtlCol="0" anchor="ctr"/>
          <a:lstStyle/>
          <a:p>
            <a:pPr algn="l" marL="342900" indent="-342900">
              <a:buSzPct val="100000"/>
              <a:buChar char="•"/>
            </a:pPr>
            <a:r>
              <a:rPr lang="en-US" sz="1100" dirty="0">
                <a:solidFill>
                  <a:srgbClr val="888888"/>
                </a:solidFill>
                <a:latin typeface="Calibri" pitchFamily="34" charset="0"/>
                <a:ea typeface="Calibri" pitchFamily="34" charset="-122"/>
                <a:cs typeface="Calibri" pitchFamily="34" charset="-120"/>
              </a:rPr>
              <a:t>Chandler, J., Mueller, P., &amp; Paolacci, G. (2014). "Nonnaïveté Among Amazon Mechanical Turk Workers: Consequences and Solutions for Behavioral Researchers." Behavior Research Methods, 46(1), 112–130.</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2026-03-17T22:23:10Z</dcterms:created>
  <dcterms:modified xsi:type="dcterms:W3CDTF">2026-03-17T22:23:10Z</dcterms:modified>
</cp:coreProperties>
</file>