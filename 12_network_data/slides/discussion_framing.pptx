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097280"/>
            <a:ext cx="8229600" cy="1097280"/>
          </a:xfrm>
          <a:prstGeom prst="rect">
            <a:avLst/>
          </a:prstGeom>
          <a:noFill/>
          <a:ln/>
        </p:spPr>
        <p:txBody>
          <a:bodyPr wrap="square" rtlCol="0" anchor="t"/>
          <a:lstStyle/>
          <a:p>
            <a:pPr algn="l" indent="0" marL="0">
              <a:buNone/>
            </a:pPr>
            <a:r>
              <a:rPr lang="en-US" sz="3600" dirty="0">
                <a:solidFill>
                  <a:srgbClr val="333333"/>
                </a:solidFill>
                <a:latin typeface="Georgia" pitchFamily="34" charset="0"/>
                <a:ea typeface="Georgia" pitchFamily="34" charset="-122"/>
                <a:cs typeface="Georgia" pitchFamily="34" charset="-120"/>
              </a:rPr>
              <a:t>Network Analysis: Structure and Influence</a:t>
            </a:r>
            <a:endParaRPr lang="en-US" sz="3600" dirty="0"/>
          </a:p>
        </p:txBody>
      </p:sp>
      <p:sp>
        <p:nvSpPr>
          <p:cNvPr id="3" name="Text 1"/>
          <p:cNvSpPr/>
          <p:nvPr/>
        </p:nvSpPr>
        <p:spPr>
          <a:xfrm>
            <a:off x="457200" y="2377440"/>
            <a:ext cx="8229600" cy="1097280"/>
          </a:xfrm>
          <a:prstGeom prst="rect">
            <a:avLst/>
          </a:prstGeom>
          <a:noFill/>
          <a:ln/>
        </p:spPr>
        <p:txBody>
          <a:bodyPr wrap="square" rtlCol="0" anchor="t"/>
          <a:lstStyle/>
          <a:p>
            <a:pPr algn="l" indent="0" marL="0">
              <a:buNone/>
            </a:pPr>
            <a:r>
              <a:rPr lang="en-US" sz="1600" i="1" dirty="0">
                <a:solidFill>
                  <a:srgbClr val="666666"/>
                </a:solidFill>
                <a:latin typeface="Calibri" pitchFamily="34" charset="0"/>
                <a:ea typeface="Calibri" pitchFamily="34" charset="-122"/>
                <a:cs typeface="Calibri" pitchFamily="34" charset="-120"/>
              </a:rPr>
              <a:t>How does social structure shape behavior, and what causal inferences can we draw from network data?</a:t>
            </a:r>
            <a:endParaRPr lang="en-US" sz="1600" dirty="0"/>
          </a:p>
        </p:txBody>
      </p:sp>
      <p:sp>
        <p:nvSpPr>
          <p:cNvPr id="4" name="Shape 2"/>
          <p:cNvSpPr/>
          <p:nvPr/>
        </p:nvSpPr>
        <p:spPr>
          <a:xfrm>
            <a:off x="457200" y="3566160"/>
            <a:ext cx="8229600" cy="0"/>
          </a:xfrm>
          <a:prstGeom prst="line">
            <a:avLst/>
          </a:prstGeom>
          <a:noFill/>
          <a:ln w="12700">
            <a:solidFill>
              <a:srgbClr val="CCCCC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Why This Matters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457200" y="914400"/>
            <a:ext cx="8229600" cy="18288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Social structure matters. Individuals are embedded in networks of relationships—friendships, professional ties, alliance relationships—and these networks shape behavior. Lazer et al. (2009) articulate the vision of computational social science: networks reveal mechanisms that individual-level analysis obscures. A legislator's vote depends not just on their ideology but on allies and opponents; a person's beliefs spread through friendship networks; organizations collaborate through formal and informal ties. Networks are not just descriptive; they are causal mechanisms.</a:t>
            </a:r>
            <a:endParaRPr lang="en-US" sz="1300" dirty="0"/>
          </a:p>
        </p:txBody>
      </p:sp>
      <p:sp>
        <p:nvSpPr>
          <p:cNvPr id="5" name="Text 3"/>
          <p:cNvSpPr/>
          <p:nvPr/>
        </p:nvSpPr>
        <p:spPr>
          <a:xfrm>
            <a:off x="457200" y="2926080"/>
            <a:ext cx="8229600" cy="18288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But causal inference from network data is subtle. Ward, Stovel &amp; Sacks (2011) review network analysis for political science, covering centrality measures (which nodes are most influential?), clustering (which nodes form cohesive subgroups?), and diffusion (how do behaviors spread through networks?). Cranmer, Desmarais &amp; Menninga (2012) focus on international alliance networks, showing how structural properties—transitivity (if A allies with B and B with C, does A ally with C?) and balance (do structural balance principles shape alliances?)—predict network formation. The insight is that networks exhibit patterns; understanding those patterns reveals social logics.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Why This Matters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457200" y="914400"/>
            <a:ext cx="8229600" cy="36576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Modern network analysis moves beyond description to inference. Exponential random graph models (ERGMs) enable hypothesis testing about which mechanisms generate observed networks. Latent space models reveal hidden community structure. Machine learning can predict missing links or detect anomalies. But computational methods must be paired with causal theory. Why do you think networks have the structure you observe? What mechanisms generate that structure? Without theory, network analysis is sophisticated pattern detection, not causal understanding.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Key Concepts &amp; Methods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Degree Centrality</a:t>
            </a:r>
            <a:endParaRPr lang="en-US" sz="1300" dirty="0"/>
          </a:p>
        </p:txBody>
      </p:sp>
      <p:sp>
        <p:nvSpPr>
          <p:cNvPr id="5" name="Text 3"/>
          <p:cNvSpPr/>
          <p:nvPr/>
        </p:nvSpPr>
        <p:spPr>
          <a:xfrm>
            <a:off x="2926080" y="100584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Number of ties per node; simple measure of node prominence.</a:t>
            </a:r>
            <a:endParaRPr lang="en-US" sz="1300" dirty="0"/>
          </a:p>
        </p:txBody>
      </p:sp>
      <p:sp>
        <p:nvSpPr>
          <p:cNvPr id="6" name="Text 4"/>
          <p:cNvSpPr/>
          <p:nvPr/>
        </p:nvSpPr>
        <p:spPr>
          <a:xfrm>
            <a:off x="640080" y="160020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Betweenness Centrality</a:t>
            </a:r>
            <a:endParaRPr lang="en-US" sz="1300" dirty="0"/>
          </a:p>
        </p:txBody>
      </p:sp>
      <p:sp>
        <p:nvSpPr>
          <p:cNvPr id="7" name="Text 5"/>
          <p:cNvSpPr/>
          <p:nvPr/>
        </p:nvSpPr>
        <p:spPr>
          <a:xfrm>
            <a:off x="2926080" y="160020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How often a node lies on shortest paths between other nodes; measures brokerage.</a:t>
            </a:r>
            <a:endParaRPr lang="en-US" sz="1300" dirty="0"/>
          </a:p>
        </p:txBody>
      </p:sp>
      <p:sp>
        <p:nvSpPr>
          <p:cNvPr id="8" name="Text 6"/>
          <p:cNvSpPr/>
          <p:nvPr/>
        </p:nvSpPr>
        <p:spPr>
          <a:xfrm>
            <a:off x="640080" y="219456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Clustering Coefficient</a:t>
            </a:r>
            <a:endParaRPr lang="en-US" sz="1300" dirty="0"/>
          </a:p>
        </p:txBody>
      </p:sp>
      <p:sp>
        <p:nvSpPr>
          <p:cNvPr id="9" name="Text 7"/>
          <p:cNvSpPr/>
          <p:nvPr/>
        </p:nvSpPr>
        <p:spPr>
          <a:xfrm>
            <a:off x="2926080" y="219456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Proportion of node's neighbors connected to each other; measures local cohesion.</a:t>
            </a:r>
            <a:endParaRPr lang="en-US" sz="1300" dirty="0"/>
          </a:p>
        </p:txBody>
      </p:sp>
      <p:sp>
        <p:nvSpPr>
          <p:cNvPr id="10" name="Text 8"/>
          <p:cNvSpPr/>
          <p:nvPr/>
        </p:nvSpPr>
        <p:spPr>
          <a:xfrm>
            <a:off x="640080" y="278892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Community Detection</a:t>
            </a:r>
            <a:endParaRPr lang="en-US" sz="1300" dirty="0"/>
          </a:p>
        </p:txBody>
      </p:sp>
      <p:sp>
        <p:nvSpPr>
          <p:cNvPr id="11" name="Text 9"/>
          <p:cNvSpPr/>
          <p:nvPr/>
        </p:nvSpPr>
        <p:spPr>
          <a:xfrm>
            <a:off x="2926080" y="278892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Identifying groups of nodes with dense internal ties and sparse external ties.</a:t>
            </a:r>
            <a:endParaRPr lang="en-US" sz="1300" dirty="0"/>
          </a:p>
        </p:txBody>
      </p:sp>
      <p:sp>
        <p:nvSpPr>
          <p:cNvPr id="12" name="Text 10"/>
          <p:cNvSpPr/>
          <p:nvPr/>
        </p:nvSpPr>
        <p:spPr>
          <a:xfrm>
            <a:off x="640080" y="338328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Structural Balance</a:t>
            </a:r>
            <a:endParaRPr lang="en-US" sz="1300" dirty="0"/>
          </a:p>
        </p:txBody>
      </p:sp>
      <p:sp>
        <p:nvSpPr>
          <p:cNvPr id="13" name="Text 11"/>
          <p:cNvSpPr/>
          <p:nvPr/>
        </p:nvSpPr>
        <p:spPr>
          <a:xfrm>
            <a:off x="2926080" y="338328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Theory that triads (three-node subgraphs) tend toward configurations without conflict.</a:t>
            </a:r>
            <a:endParaRPr lang="en-US" sz="1300" dirty="0"/>
          </a:p>
        </p:txBody>
      </p:sp>
      <p:sp>
        <p:nvSpPr>
          <p:cNvPr id="14" name="Text 12"/>
          <p:cNvSpPr/>
          <p:nvPr/>
        </p:nvSpPr>
        <p:spPr>
          <a:xfrm>
            <a:off x="640080" y="397764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ERGM</a:t>
            </a:r>
            <a:endParaRPr lang="en-US" sz="1300" dirty="0"/>
          </a:p>
        </p:txBody>
      </p:sp>
      <p:sp>
        <p:nvSpPr>
          <p:cNvPr id="15" name="Text 13"/>
          <p:cNvSpPr/>
          <p:nvPr/>
        </p:nvSpPr>
        <p:spPr>
          <a:xfrm>
            <a:off x="2926080" y="397764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Exponential Random Graph Model: statistical model of network formation enabling hypothesis testing.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Discussion Questions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Lazer et al. argue that networks reveal mechanisms. What types of mechanisms can network analysis illuminate that individual-level analysis cannot?</a:t>
            </a:r>
            <a:endParaRPr lang="en-US" sz="1400" dirty="0"/>
          </a:p>
        </p:txBody>
      </p:sp>
      <p:sp>
        <p:nvSpPr>
          <p:cNvPr id="5" name="Text 3"/>
          <p:cNvSpPr/>
          <p:nvPr/>
        </p:nvSpPr>
        <p:spPr>
          <a:xfrm>
            <a:off x="640080" y="201168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Ward, Stovel &amp; Sacks distinguish centrality measures (degree, betweenness, closeness). When would you use each, and what does each tell you about a node's position?</a:t>
            </a:r>
            <a:endParaRPr lang="en-US" sz="1400" dirty="0"/>
          </a:p>
        </p:txBody>
      </p:sp>
      <p:sp>
        <p:nvSpPr>
          <p:cNvPr id="6" name="Text 4"/>
          <p:cNvSpPr/>
          <p:nvPr/>
        </p:nvSpPr>
        <p:spPr>
          <a:xfrm>
            <a:off x="640080" y="301752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Cranmer, Desmarais &amp; Menninga study alliance networks using structural balance theory. How would you test whether balance principles predict alliance formation? What would alternative explanations predict?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Recommended Reading</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Lazer, D., Pentland, A., Adamic, L., et al. (2009). "Computational Social Science." Science, 323(5915), 721–723.</a:t>
            </a:r>
            <a:endParaRPr lang="en-US" sz="1100" dirty="0"/>
          </a:p>
        </p:txBody>
      </p:sp>
      <p:sp>
        <p:nvSpPr>
          <p:cNvPr id="5" name="Text 3"/>
          <p:cNvSpPr/>
          <p:nvPr/>
        </p:nvSpPr>
        <p:spPr>
          <a:xfrm>
            <a:off x="640080" y="16916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Ward, M. D., Stovel, K., &amp; Sacks, A. (2011). "Network Analysis and Political Science." Annual Review of Political Science, 14, 245–264.</a:t>
            </a:r>
            <a:endParaRPr lang="en-US" sz="1100" dirty="0"/>
          </a:p>
        </p:txBody>
      </p:sp>
      <p:sp>
        <p:nvSpPr>
          <p:cNvPr id="6" name="Text 4"/>
          <p:cNvSpPr/>
          <p:nvPr/>
        </p:nvSpPr>
        <p:spPr>
          <a:xfrm>
            <a:off x="640080" y="23774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Cranmer, S. J., Desmarais, B. A., &amp; Menninga, E. J. (2012). "Complex Dependencies in the Alliance Network." Conflict Management and Peace Science, 29(3), 279–313.</a:t>
            </a:r>
            <a:endParaRPr lang="en-US" sz="1100" dirty="0"/>
          </a:p>
        </p:txBody>
      </p:sp>
      <p:sp>
        <p:nvSpPr>
          <p:cNvPr id="7" name="Text 5"/>
          <p:cNvSpPr/>
          <p:nvPr/>
        </p:nvSpPr>
        <p:spPr>
          <a:xfrm>
            <a:off x="640080" y="30632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Newman, M. E. J. (2010). Networks: An Introduction. Oxford University Press.</a:t>
            </a:r>
            <a:endParaRPr lang="en-US" sz="1100" dirty="0"/>
          </a:p>
        </p:txBody>
      </p:sp>
      <p:sp>
        <p:nvSpPr>
          <p:cNvPr id="8" name="Text 6"/>
          <p:cNvSpPr/>
          <p:nvPr/>
        </p:nvSpPr>
        <p:spPr>
          <a:xfrm>
            <a:off x="640080" y="37490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Jackson, M. O. (2008). Social and Economic Networks. Princeton University Press.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2026-03-17T22:23:10Z</dcterms:created>
  <dcterms:modified xsi:type="dcterms:W3CDTF">2026-03-17T22:23:10Z</dcterms:modified>
</cp:coreProperties>
</file>