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097280"/>
            <a:ext cx="8229600" cy="1097280"/>
          </a:xfrm>
          <a:prstGeom prst="rect">
            <a:avLst/>
          </a:prstGeom>
          <a:noFill/>
          <a:ln/>
        </p:spPr>
        <p:txBody>
          <a:bodyPr wrap="square" rtlCol="0" anchor="t"/>
          <a:lstStyle/>
          <a:p>
            <a:pPr algn="l" indent="0" marL="0">
              <a:buNone/>
            </a:pPr>
            <a:r>
              <a:rPr lang="en-US" sz="3600" dirty="0">
                <a:solidFill>
                  <a:srgbClr val="333333"/>
                </a:solidFill>
                <a:latin typeface="Georgia" pitchFamily="34" charset="0"/>
                <a:ea typeface="Georgia" pitchFamily="34" charset="-122"/>
                <a:cs typeface="Georgia" pitchFamily="34" charset="-120"/>
              </a:rPr>
              <a:t>Text as Data: From Bag-of-Words to Transformers</a:t>
            </a:r>
            <a:endParaRPr lang="en-US" sz="3600" dirty="0"/>
          </a:p>
        </p:txBody>
      </p:sp>
      <p:sp>
        <p:nvSpPr>
          <p:cNvPr id="3" name="Text 1"/>
          <p:cNvSpPr/>
          <p:nvPr/>
        </p:nvSpPr>
        <p:spPr>
          <a:xfrm>
            <a:off x="457200" y="2377440"/>
            <a:ext cx="8229600" cy="1097280"/>
          </a:xfrm>
          <a:prstGeom prst="rect">
            <a:avLst/>
          </a:prstGeom>
          <a:noFill/>
          <a:ln/>
        </p:spPr>
        <p:txBody>
          <a:bodyPr wrap="square" rtlCol="0" anchor="t"/>
          <a:lstStyle/>
          <a:p>
            <a:pPr algn="l" indent="0" marL="0">
              <a:buNone/>
            </a:pPr>
            <a:r>
              <a:rPr lang="en-US" sz="1600" i="1" dirty="0">
                <a:solidFill>
                  <a:srgbClr val="666666"/>
                </a:solidFill>
                <a:latin typeface="Calibri" pitchFamily="34" charset="0"/>
                <a:ea typeface="Calibri" pitchFamily="34" charset="-122"/>
                <a:cs typeface="Calibri" pitchFamily="34" charset="-120"/>
              </a:rPr>
              <a:t>How can we convert unstructured text into measurable variables without losing meaning?</a:t>
            </a:r>
            <a:endParaRPr lang="en-US" sz="1600" dirty="0"/>
          </a:p>
        </p:txBody>
      </p:sp>
      <p:sp>
        <p:nvSpPr>
          <p:cNvPr id="4" name="Shape 2"/>
          <p:cNvSpPr/>
          <p:nvPr/>
        </p:nvSpPr>
        <p:spPr>
          <a:xfrm>
            <a:off x="457200" y="3566160"/>
            <a:ext cx="8229600" cy="0"/>
          </a:xfrm>
          <a:prstGeom prst="line">
            <a:avLst/>
          </a:prstGeom>
          <a:noFill/>
          <a:ln w="12700">
            <a:solidFill>
              <a:srgbClr val="CCCCC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Text is the most abundant form of political data. Speeches, news articles, social media posts, and policy documents capture the language political actors use to frame issues, mobilize support, and justify decisions. Grimmer &amp; Stewart (2013) make the case that text is not inherently unstructured—it is data in a form that requires transformation. The choice of text analysis method is not a technical detail; it is a substantive choice that shapes what questions you can answer. Simple bag-of-words methods ask "how frequently do certain words appear?" while newer embedding methods ask "what is the semantic context in which words co-occur?"</a:t>
            </a:r>
            <a:endParaRPr lang="en-US" sz="1300" dirty="0"/>
          </a:p>
        </p:txBody>
      </p:sp>
      <p:sp>
        <p:nvSpPr>
          <p:cNvPr id="5" name="Text 3"/>
          <p:cNvSpPr/>
          <p:nvPr/>
        </p:nvSpPr>
        <p:spPr>
          <a:xfrm>
            <a:off x="457200" y="292608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The explosion of transformer-based language models (BERT, GPT) has shifted text-as-data from counting to semantic understanding. Rodriguez &amp; Spirling (2022) demonstrate that word embeddings—dense vectors that capture semantic meaning—can be used to measure political ideology, policy positions, and even authorship, with performance that rivals human annotation. Gentzkow, Kelly &amp; Taddy (2019) survey the landscape and emphasize that no single method dominates; the choice depends on your research question.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36576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But methods matter. Automated approaches can achieve scale that human coding cannot, yet they embed assumptions about language, meaning, and context. Text analysis choices—tokenization, preprocessing, word embedding dimensions, transformer architecture—all shape what patterns you detect. The frontier of computational social science lies in transparent, theoretically grounded choices about how text becomes data.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Key Concepts &amp; Methods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Tokenization</a:t>
            </a:r>
            <a:endParaRPr lang="en-US" sz="1300" dirty="0"/>
          </a:p>
        </p:txBody>
      </p:sp>
      <p:sp>
        <p:nvSpPr>
          <p:cNvPr id="5" name="Text 3"/>
          <p:cNvSpPr/>
          <p:nvPr/>
        </p:nvSpPr>
        <p:spPr>
          <a:xfrm>
            <a:off x="2926080" y="10058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Breaking text into words or subwords for analysis.</a:t>
            </a:r>
            <a:endParaRPr lang="en-US" sz="1300" dirty="0"/>
          </a:p>
        </p:txBody>
      </p:sp>
      <p:sp>
        <p:nvSpPr>
          <p:cNvPr id="6" name="Text 4"/>
          <p:cNvSpPr/>
          <p:nvPr/>
        </p:nvSpPr>
        <p:spPr>
          <a:xfrm>
            <a:off x="640080" y="160020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Bag-of-Words</a:t>
            </a:r>
            <a:endParaRPr lang="en-US" sz="1300" dirty="0"/>
          </a:p>
        </p:txBody>
      </p:sp>
      <p:sp>
        <p:nvSpPr>
          <p:cNvPr id="7" name="Text 5"/>
          <p:cNvSpPr/>
          <p:nvPr/>
        </p:nvSpPr>
        <p:spPr>
          <a:xfrm>
            <a:off x="2926080" y="160020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Representing documents as unordered collections of word counts, ignoring word order and context.</a:t>
            </a:r>
            <a:endParaRPr lang="en-US" sz="1300" dirty="0"/>
          </a:p>
        </p:txBody>
      </p:sp>
      <p:sp>
        <p:nvSpPr>
          <p:cNvPr id="8" name="Text 6"/>
          <p:cNvSpPr/>
          <p:nvPr/>
        </p:nvSpPr>
        <p:spPr>
          <a:xfrm>
            <a:off x="640080" y="219456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TF-IDF</a:t>
            </a:r>
            <a:endParaRPr lang="en-US" sz="1300" dirty="0"/>
          </a:p>
        </p:txBody>
      </p:sp>
      <p:sp>
        <p:nvSpPr>
          <p:cNvPr id="9" name="Text 7"/>
          <p:cNvSpPr/>
          <p:nvPr/>
        </p:nvSpPr>
        <p:spPr>
          <a:xfrm>
            <a:off x="2926080" y="219456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Term Frequency-Inverse Document Frequency; weights words by their frequency within a document and rarity across a corpus.</a:t>
            </a:r>
            <a:endParaRPr lang="en-US" sz="1300" dirty="0"/>
          </a:p>
        </p:txBody>
      </p:sp>
      <p:sp>
        <p:nvSpPr>
          <p:cNvPr id="10" name="Text 8"/>
          <p:cNvSpPr/>
          <p:nvPr/>
        </p:nvSpPr>
        <p:spPr>
          <a:xfrm>
            <a:off x="640080" y="278892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Word Embeddings</a:t>
            </a:r>
            <a:endParaRPr lang="en-US" sz="1300" dirty="0"/>
          </a:p>
        </p:txBody>
      </p:sp>
      <p:sp>
        <p:nvSpPr>
          <p:cNvPr id="11" name="Text 9"/>
          <p:cNvSpPr/>
          <p:nvPr/>
        </p:nvSpPr>
        <p:spPr>
          <a:xfrm>
            <a:off x="2926080" y="278892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Dense vectors (e.g., word2vec, GloVe) where semantic similarity maps to geometric proximity.</a:t>
            </a:r>
            <a:endParaRPr lang="en-US" sz="1300" dirty="0"/>
          </a:p>
        </p:txBody>
      </p:sp>
      <p:sp>
        <p:nvSpPr>
          <p:cNvPr id="12" name="Text 10"/>
          <p:cNvSpPr/>
          <p:nvPr/>
        </p:nvSpPr>
        <p:spPr>
          <a:xfrm>
            <a:off x="640080" y="338328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Transformers</a:t>
            </a:r>
            <a:endParaRPr lang="en-US" sz="1300" dirty="0"/>
          </a:p>
        </p:txBody>
      </p:sp>
      <p:sp>
        <p:nvSpPr>
          <p:cNvPr id="13" name="Text 11"/>
          <p:cNvSpPr/>
          <p:nvPr/>
        </p:nvSpPr>
        <p:spPr>
          <a:xfrm>
            <a:off x="2926080" y="338328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Neural networks that use attention mechanisms to understand context; foundation of BERT, GPT, and modern NLP.</a:t>
            </a:r>
            <a:endParaRPr lang="en-US" sz="1300" dirty="0"/>
          </a:p>
        </p:txBody>
      </p:sp>
      <p:sp>
        <p:nvSpPr>
          <p:cNvPr id="14" name="Text 12"/>
          <p:cNvSpPr/>
          <p:nvPr/>
        </p:nvSpPr>
        <p:spPr>
          <a:xfrm>
            <a:off x="640080" y="39776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Dictionary Methods</a:t>
            </a:r>
            <a:endParaRPr lang="en-US" sz="1300" dirty="0"/>
          </a:p>
        </p:txBody>
      </p:sp>
      <p:sp>
        <p:nvSpPr>
          <p:cNvPr id="15" name="Text 13"/>
          <p:cNvSpPr/>
          <p:nvPr/>
        </p:nvSpPr>
        <p:spPr>
          <a:xfrm>
            <a:off x="2926080" y="39776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Classifying documents based on dictionaries of pre-defined, theory-motivated keywords.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Discussion Questions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Grimmer &amp; Stewart argue that text analysis method choice is a substantive, not technical, decision. Give an example of two research questions where you would choose different text analysis methods. Why would each method be appropriate?</a:t>
            </a:r>
            <a:endParaRPr lang="en-US" sz="1400" dirty="0"/>
          </a:p>
        </p:txBody>
      </p:sp>
      <p:sp>
        <p:nvSpPr>
          <p:cNvPr id="5" name="Text 3"/>
          <p:cNvSpPr/>
          <p:nvPr/>
        </p:nvSpPr>
        <p:spPr>
          <a:xfrm>
            <a:off x="640080" y="201168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Rodriguez &amp; Spirling show that word embeddings can measure political ideology. Do embeddings capture "true" ideology, or do they capture patterns in how political discourse is written? Does this distinction matter?</a:t>
            </a:r>
            <a:endParaRPr lang="en-US" sz="1400" dirty="0"/>
          </a:p>
        </p:txBody>
      </p:sp>
      <p:sp>
        <p:nvSpPr>
          <p:cNvPr id="6" name="Text 4"/>
          <p:cNvSpPr/>
          <p:nvPr/>
        </p:nvSpPr>
        <p:spPr>
          <a:xfrm>
            <a:off x="640080" y="301752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Gentzkow, Kelly &amp; Taddy note that no single text method dominates. Under what conditions would you choose bag-of-words over transformers, and vice versa? What are the efficiency-accuracy tradeoffs?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Recommended Reading</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Grimmer, J., &amp; Stewart, B. M. (2013). "Text as Data: The Promise and Pitfalls of Automatic Content Analysis of Political Texts." Political Analysis, 21(3), 267–297.</a:t>
            </a:r>
            <a:endParaRPr lang="en-US" sz="1100" dirty="0"/>
          </a:p>
        </p:txBody>
      </p:sp>
      <p:sp>
        <p:nvSpPr>
          <p:cNvPr id="5" name="Text 3"/>
          <p:cNvSpPr/>
          <p:nvPr/>
        </p:nvSpPr>
        <p:spPr>
          <a:xfrm>
            <a:off x="640080" y="16916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Rodriguez, P. L., &amp; Spirling, A. (2022). "Word Embeddings: What Works, What Doesn't, and How to Tell the Difference for Applied Research." The Journal of Politics, 84(1), 101–115.</a:t>
            </a:r>
            <a:endParaRPr lang="en-US" sz="1100" dirty="0"/>
          </a:p>
        </p:txBody>
      </p:sp>
      <p:sp>
        <p:nvSpPr>
          <p:cNvPr id="6" name="Text 4"/>
          <p:cNvSpPr/>
          <p:nvPr/>
        </p:nvSpPr>
        <p:spPr>
          <a:xfrm>
            <a:off x="640080" y="23774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Gentzkow, M., Kelly, B., &amp; Taddy, M. (2019). "Text as Data." Journal of Economic Literature, 57(3), 535–74.</a:t>
            </a:r>
            <a:endParaRPr lang="en-US" sz="1100" dirty="0"/>
          </a:p>
        </p:txBody>
      </p:sp>
      <p:sp>
        <p:nvSpPr>
          <p:cNvPr id="7" name="Text 5"/>
          <p:cNvSpPr/>
          <p:nvPr/>
        </p:nvSpPr>
        <p:spPr>
          <a:xfrm>
            <a:off x="640080" y="30632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Maas, A. L., &amp; Ng, A. Y. (2010). "A Probabilistic Model for Semantic Word Embeddings." In Proceedings of EMNLP.</a:t>
            </a:r>
            <a:endParaRPr lang="en-US" sz="1100" dirty="0"/>
          </a:p>
        </p:txBody>
      </p:sp>
      <p:sp>
        <p:nvSpPr>
          <p:cNvPr id="8" name="Text 6"/>
          <p:cNvSpPr/>
          <p:nvPr/>
        </p:nvSpPr>
        <p:spPr>
          <a:xfrm>
            <a:off x="640080" y="37490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King, G., Pan, J., &amp; Roberts, M. E. (2013). "How Censorship in China Allows Government Criticism but Silences Collective Expression." PNAS, 110(37), 14755–14760.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2026-03-17T22:23:09Z</dcterms:created>
  <dcterms:modified xsi:type="dcterms:W3CDTF">2026-03-17T22:23:09Z</dcterms:modified>
</cp:coreProperties>
</file>